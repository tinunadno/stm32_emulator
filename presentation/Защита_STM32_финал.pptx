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F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502920" cy="502920"/>
          </a:xfrm>
          <a:prstGeom prst="rect">
            <a:avLst/>
          </a:prstGeom>
          <a:solidFill>
            <a:srgbClr val="FFB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502920"/>
            <a:ext cx="45720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FB300"/>
                </a:solidFill>
                <a:latin typeface="Consolas"/>
              </a:rPr>
              <a:t>STM32 SIMULATOR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80960" y="502920"/>
            <a:ext cx="40233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400" b="0" i="0">
                <a:solidFill>
                  <a:srgbClr val="F5F1E8"/>
                </a:solidFill>
                <a:latin typeface="Consolas"/>
              </a:rPr>
              <a:t>ИТМО ·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0312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 i="0">
                <a:solidFill>
                  <a:srgbClr val="F5F1E8"/>
                </a:solidFill>
                <a:latin typeface="Consolas"/>
              </a:rPr>
              <a:t>Симулятор STM32F103C8T6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24612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0" i="1">
                <a:solidFill>
                  <a:srgbClr val="FFB300"/>
                </a:solidFill>
                <a:latin typeface="Calibri"/>
              </a:rPr>
              <a:t>программная модель Cortex-M3 c периферией, тестами и удалённой отладкой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4572000"/>
            <a:ext cx="1828800" cy="36576"/>
          </a:xfrm>
          <a:prstGeom prst="rect">
            <a:avLst/>
          </a:prstGeom>
          <a:solidFill>
            <a:srgbClr val="FFB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470916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F5F1E8"/>
                </a:solidFill>
                <a:latin typeface="Calibri"/>
              </a:rPr>
              <a:t>Курс «Программирование встроенных систем» · ИТМО · защита группового проекта</a:t>
            </a:r>
          </a:p>
        </p:txBody>
      </p:sp>
      <p:sp>
        <p:nvSpPr>
          <p:cNvPr id="9" name="Oval 8"/>
          <p:cNvSpPr/>
          <p:nvPr/>
        </p:nvSpPr>
        <p:spPr>
          <a:xfrm>
            <a:off x="566928" y="6327648"/>
            <a:ext cx="146304" cy="146304"/>
          </a:xfrm>
          <a:prstGeom prst="ellipse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95528" y="6327648"/>
            <a:ext cx="146304" cy="146304"/>
          </a:xfrm>
          <a:prstGeom prst="ellipse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24128" y="6327648"/>
            <a:ext cx="146304" cy="146304"/>
          </a:xfrm>
          <a:prstGeom prst="ellipse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252728" y="6327648"/>
            <a:ext cx="146304" cy="146304"/>
          </a:xfrm>
          <a:prstGeom prst="ellipse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F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0"/>
            <a:ext cx="7315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FB300"/>
                </a:solidFill>
                <a:latin typeface="Consolas"/>
              </a:rPr>
              <a:t>РАЗДЕЛ 01 / 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468880"/>
            <a:ext cx="10972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5F1E8"/>
                </a:solidFill>
                <a:latin typeface="Consolas"/>
              </a:rPr>
              <a:t>Что это и зачем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572000"/>
            <a:ext cx="100584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 i="1">
                <a:solidFill>
                  <a:srgbClr val="ECE7DB"/>
                </a:solidFill>
                <a:latin typeface="Calibri"/>
              </a:rPr>
              <a:t>Контекст проекта в одну минуту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D69700"/>
                </a:solidFill>
                <a:latin typeface="Consolas"/>
              </a:rPr>
              <a:t>Идея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109728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1A1F2E"/>
                </a:solidFill>
                <a:latin typeface="Consolas"/>
              </a:rPr>
              <a:t>Программа, которая ведёт себя как микроконтроллер.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468880"/>
            <a:ext cx="1124712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i="0">
                <a:solidFill>
                  <a:srgbClr val="1A1F2E"/>
                </a:solidFill>
                <a:latin typeface="Calibri"/>
              </a:rPr>
              <a:t>Мы написали на чистом C11 модель «Blue Pill» — STM32F103C8T6. Загружаем готовую прошивку, симулируем процессор, память и периферию, получаем такие же эффекты, как на реальной плате — и всё это без железа.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A5A5A"/>
                </a:solidFill>
                <a:latin typeface="Consolas"/>
              </a:rPr>
              <a:t>Идея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5A5A5A"/>
                </a:solidFill>
                <a:latin typeface="Consolas"/>
              </a:rPr>
              <a:t>03 / 34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D69700"/>
                </a:solidFill>
                <a:latin typeface="Consolas"/>
              </a:rPr>
              <a:t>Числами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1A1F2E"/>
                </a:solidFill>
                <a:latin typeface="Consolas"/>
              </a:rPr>
              <a:t>Из чего состоит проект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011680"/>
            <a:ext cx="2537460" cy="2743200"/>
          </a:xfrm>
          <a:prstGeom prst="rect">
            <a:avLst/>
          </a:prstGeom>
          <a:solidFill>
            <a:srgbClr val="1A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2148840"/>
            <a:ext cx="2446020" cy="1645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6400" b="1" i="0">
                <a:solidFill>
                  <a:srgbClr val="FFB300"/>
                </a:solidFill>
                <a:latin typeface="Consolas"/>
              </a:rPr>
              <a:t>≈ 7 400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886200"/>
            <a:ext cx="24460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0" i="0">
                <a:solidFill>
                  <a:srgbClr val="F5F1E8"/>
                </a:solidFill>
                <a:latin typeface="Calibri"/>
              </a:rPr>
              <a:t>строк C-кода</a:t>
            </a:r>
          </a:p>
          <a:p>
            <a:pPr algn="ctr">
              <a:lnSpc>
                <a:spcPct val="120000"/>
              </a:lnSpc>
            </a:pPr>
            <a:r>
              <a:rPr sz="1400" b="0" i="0">
                <a:solidFill>
                  <a:srgbClr val="F5F1E8"/>
                </a:solidFill>
                <a:latin typeface="Calibri"/>
              </a:rPr>
              <a:t>в src/</a:t>
            </a:r>
          </a:p>
        </p:txBody>
      </p:sp>
      <p:sp>
        <p:nvSpPr>
          <p:cNvPr id="8" name="Rectangle 7"/>
          <p:cNvSpPr/>
          <p:nvPr/>
        </p:nvSpPr>
        <p:spPr>
          <a:xfrm>
            <a:off x="3177540" y="2011680"/>
            <a:ext cx="2537460" cy="2743200"/>
          </a:xfrm>
          <a:prstGeom prst="rect">
            <a:avLst/>
          </a:prstGeom>
          <a:solidFill>
            <a:srgbClr val="1A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23260" y="2148840"/>
            <a:ext cx="2446020" cy="1645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6400" b="1" i="0">
                <a:solidFill>
                  <a:srgbClr val="FFB300"/>
                </a:solidFill>
                <a:latin typeface="Consolas"/>
              </a:rPr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23260" y="3886200"/>
            <a:ext cx="24460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0" i="0">
                <a:solidFill>
                  <a:srgbClr val="F5F1E8"/>
                </a:solidFill>
                <a:latin typeface="Calibri"/>
              </a:rPr>
              <a:t>файлов .c</a:t>
            </a:r>
          </a:p>
          <a:p>
            <a:pPr algn="ctr">
              <a:lnSpc>
                <a:spcPct val="120000"/>
              </a:lnSpc>
            </a:pPr>
            <a:r>
              <a:rPr sz="1400" b="0" i="0">
                <a:solidFill>
                  <a:srgbClr val="F5F1E8"/>
                </a:solidFill>
                <a:latin typeface="Calibri"/>
              </a:rPr>
              <a:t>+ 20 .h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806440" y="2011680"/>
            <a:ext cx="2537460" cy="2743200"/>
          </a:xfrm>
          <a:prstGeom prst="rect">
            <a:avLst/>
          </a:prstGeom>
          <a:solidFill>
            <a:srgbClr val="1A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52160" y="2148840"/>
            <a:ext cx="2446020" cy="1645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6400" b="1" i="0">
                <a:solidFill>
                  <a:srgbClr val="FFB300"/>
                </a:solidFill>
                <a:latin typeface="Consolas"/>
              </a:rPr>
              <a:t>11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0" y="3886200"/>
            <a:ext cx="24460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0" i="0">
                <a:solidFill>
                  <a:srgbClr val="F5F1E8"/>
                </a:solidFill>
                <a:latin typeface="Calibri"/>
              </a:rPr>
              <a:t>тестовых сьютов</a:t>
            </a:r>
          </a:p>
          <a:p>
            <a:pPr algn="ctr">
              <a:lnSpc>
                <a:spcPct val="120000"/>
              </a:lnSpc>
            </a:pPr>
            <a:r>
              <a:rPr sz="1400" b="0" i="0">
                <a:solidFill>
                  <a:srgbClr val="F5F1E8"/>
                </a:solidFill>
                <a:latin typeface="Calibri"/>
              </a:rPr>
              <a:t>+ интеграция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435340" y="2011680"/>
            <a:ext cx="2537460" cy="2743200"/>
          </a:xfrm>
          <a:prstGeom prst="rect">
            <a:avLst/>
          </a:prstGeom>
          <a:solidFill>
            <a:srgbClr val="1A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81060" y="2148840"/>
            <a:ext cx="2446020" cy="1645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6400" b="1" i="0">
                <a:solidFill>
                  <a:srgbClr val="FFB300"/>
                </a:solidFill>
                <a:latin typeface="Consolas"/>
              </a:rPr>
              <a:t>~80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81060" y="3886200"/>
            <a:ext cx="24460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0" i="0">
                <a:solidFill>
                  <a:srgbClr val="F5F1E8"/>
                </a:solidFill>
                <a:latin typeface="Calibri"/>
              </a:rPr>
              <a:t>Thumb / Thumb-2</a:t>
            </a:r>
          </a:p>
          <a:p>
            <a:pPr algn="ctr">
              <a:lnSpc>
                <a:spcPct val="120000"/>
              </a:lnSpc>
            </a:pPr>
            <a:r>
              <a:rPr sz="1400" b="0" i="0">
                <a:solidFill>
                  <a:srgbClr val="F5F1E8"/>
                </a:solidFill>
                <a:latin typeface="Calibri"/>
              </a:rPr>
              <a:t>инструкций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5074920"/>
            <a:ext cx="112471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0" i="1">
                <a:solidFill>
                  <a:srgbClr val="1A1F2E"/>
                </a:solidFill>
                <a:latin typeface="Calibri"/>
              </a:rPr>
              <a:t>Цифры собраны автоматически по содержимому каталога src/. Это не «кодовая фабрика» — это плотный учебный проект, в котором каждая папка делает одно дело.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44652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A5A5A"/>
                </a:solidFill>
                <a:latin typeface="Consolas"/>
              </a:rPr>
              <a:t>Числами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0" y="6446520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5A5A5A"/>
                </a:solidFill>
                <a:latin typeface="Consolas"/>
              </a:rPr>
              <a:t>04 / 34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D69700"/>
                </a:solidFill>
                <a:latin typeface="Consolas"/>
              </a:rPr>
              <a:t>Зачем студенту симулятор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109728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1A1F2E"/>
                </a:solidFill>
                <a:latin typeface="Consolas"/>
              </a:rPr>
              <a:t>Видеть процессор изнутри без риска что-нибудь спалить.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468880"/>
            <a:ext cx="1124712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i="0">
                <a:solidFill>
                  <a:srgbClr val="1A1F2E"/>
                </a:solidFill>
                <a:latin typeface="Calibri"/>
              </a:rPr>
              <a:t>Симулятор даёт пошаговую трассировку, доступ к каждому регистру, и привычный GDB как на железе. Прошивку можно собирать своим компилятором — и сразу запускать. Это удобно для лабораторных и для отладки алгоритмов на реальной модели Cortex-M3.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A5A5A"/>
                </a:solidFill>
                <a:latin typeface="Consolas"/>
              </a:rPr>
              <a:t>Зачем студенту симулятор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5A5A5A"/>
                </a:solidFill>
                <a:latin typeface="Consolas"/>
              </a:rPr>
              <a:t>05 / 34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D69700"/>
                </a:solidFill>
                <a:latin typeface="Consolas"/>
              </a:rPr>
              <a:t>Что было в задании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A1F2E"/>
                </a:solidFill>
                <a:latin typeface="Consolas"/>
              </a:rPr>
              <a:t>Курсовое ТЗ → реализация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874519"/>
            <a:ext cx="5349240" cy="4572000"/>
          </a:xfrm>
          <a:prstGeom prst="rect">
            <a:avLst/>
          </a:prstGeom>
          <a:solidFill>
            <a:srgbClr val="ECE7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355080" y="1874519"/>
            <a:ext cx="5349240" cy="4572000"/>
          </a:xfrm>
          <a:prstGeom prst="rect">
            <a:avLst/>
          </a:prstGeom>
          <a:solidFill>
            <a:srgbClr val="ECE7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011680"/>
            <a:ext cx="4800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B7A78"/>
                </a:solidFill>
                <a:latin typeface="Consolas"/>
              </a:rPr>
              <a:t>Что требовалось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606040"/>
            <a:ext cx="4800600" cy="3749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1A1F2E"/>
                </a:solidFill>
                <a:latin typeface="Calibri"/>
              </a:rPr>
              <a:t>• ARM Cortex-M3 (Thumb-2)</a:t>
            </a:r>
          </a:p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1A1F2E"/>
                </a:solidFill>
                <a:latin typeface="Calibri"/>
              </a:rPr>
              <a:t>• Подсистема памяти Flash + SRAM</a:t>
            </a:r>
          </a:p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1A1F2E"/>
                </a:solidFill>
                <a:latin typeface="Calibri"/>
              </a:rPr>
              <a:t>• NVIC c приоритетами</a:t>
            </a:r>
          </a:p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1A1F2E"/>
                </a:solidFill>
                <a:latin typeface="Calibri"/>
              </a:rPr>
              <a:t>• Таймер, UART, MMIO</a:t>
            </a:r>
          </a:p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1A1F2E"/>
                </a:solidFill>
                <a:latin typeface="Calibri"/>
              </a:rPr>
              <a:t>• Загрузка прошивки и тесты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29400" y="2011680"/>
            <a:ext cx="4800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D69700"/>
                </a:solidFill>
                <a:latin typeface="Consolas"/>
              </a:rPr>
              <a:t>Что мы сделали сверх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29400" y="2606040"/>
            <a:ext cx="4800600" cy="3749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1A1F2E"/>
                </a:solidFill>
                <a:latin typeface="Calibri"/>
              </a:rPr>
              <a:t>• Thumb-2: BL/MOVW/MOVT/UMULL/SMULL</a:t>
            </a:r>
          </a:p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1A1F2E"/>
                </a:solidFill>
                <a:latin typeface="Calibri"/>
              </a:rPr>
              <a:t>• MMIO-NVIC в стиле CMSIS</a:t>
            </a:r>
          </a:p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1A1F2E"/>
                </a:solidFill>
                <a:latin typeface="Calibri"/>
              </a:rPr>
              <a:t>• GDB Remote Serial Protocol</a:t>
            </a:r>
          </a:p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1A1F2E"/>
                </a:solidFill>
                <a:latin typeface="Calibri"/>
              </a:rPr>
              <a:t>• SysTick + RCC + GPIO</a:t>
            </a:r>
          </a:p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1A1F2E"/>
                </a:solidFill>
                <a:latin typeface="Calibri"/>
              </a:rPr>
              <a:t>• Профилировщик и UART SVG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4652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A5A5A"/>
                </a:solidFill>
                <a:latin typeface="Consolas"/>
              </a:rPr>
              <a:t>Что было в задании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6446520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5A5A5A"/>
                </a:solidFill>
                <a:latin typeface="Consolas"/>
              </a:rPr>
              <a:t>06 / 34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F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0"/>
            <a:ext cx="7315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FB300"/>
                </a:solidFill>
                <a:latin typeface="Consolas"/>
              </a:rPr>
              <a:t>РАЗДЕЛ 02 / 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468880"/>
            <a:ext cx="10972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5F1E8"/>
                </a:solidFill>
                <a:latin typeface="Consolas"/>
              </a:rPr>
              <a:t>Архитектура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572000"/>
            <a:ext cx="100584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 i="1">
                <a:solidFill>
                  <a:srgbClr val="ECE7DB"/>
                </a:solidFill>
                <a:latin typeface="Calibri"/>
              </a:rPr>
              <a:t>Один поток, чёткие границы между модулями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D69700"/>
                </a:solidFill>
                <a:latin typeface="Consolas"/>
              </a:rPr>
              <a:t>Картинка 1 · Архитектура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1A1F2E"/>
                </a:solidFill>
                <a:latin typeface="Consolas"/>
              </a:rPr>
              <a:t>Как соединены ядро, шина, память и периферия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554480"/>
            <a:ext cx="112471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1">
                <a:solidFill>
                  <a:srgbClr val="1A1F2E"/>
                </a:solidFill>
                <a:latin typeface="Calibri"/>
              </a:rPr>
              <a:t>Слева — процессор Cortex-M3, справа — NVIC. Между ними — шина (bus), которая по адресу решает, к какой периферии или памяти идёт обращение. Так ядро не «знает» про устройства напрямую.</a:t>
            </a:r>
          </a:p>
        </p:txBody>
      </p:sp>
      <p:pic>
        <p:nvPicPr>
          <p:cNvPr id="6" name="Picture 5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331720"/>
            <a:ext cx="6344816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5532119"/>
            <a:ext cx="112471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1A1F2E"/>
                </a:solidFill>
                <a:latin typeface="Calibri"/>
              </a:rPr>
              <a:t>Все стрелки на этом слайде соответствуют реальным вызовам в коде: bus_read/bus_write, nvic_set_pending, register_region. Источник: docs/architecture.svg.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A5A5A"/>
                </a:solidFill>
                <a:latin typeface="Consolas"/>
              </a:rPr>
              <a:t>Картинка 1 · Архитектура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46520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5A5A5A"/>
                </a:solidFill>
                <a:latin typeface="Consolas"/>
              </a:rPr>
              <a:t>08 / 34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D69700"/>
                </a:solidFill>
                <a:latin typeface="Consolas"/>
              </a:rPr>
              <a:t>Картинка 2 · Каталог src/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1A1F2E"/>
                </a:solidFill>
                <a:latin typeface="Consolas"/>
              </a:rPr>
              <a:t>Кто за что отвечает в коде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554480"/>
            <a:ext cx="112471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1">
                <a:solidFill>
                  <a:srgbClr val="1A1F2E"/>
                </a:solidFill>
                <a:latin typeface="Calibri"/>
              </a:rPr>
              <a:t>Каждая папка — отдельная зона ответственности. Это упрощает работу команды: разработчик ядра не зависит от UART-разработчика, тесты модулей независимы.</a:t>
            </a:r>
          </a:p>
        </p:txBody>
      </p:sp>
      <p:pic>
        <p:nvPicPr>
          <p:cNvPr id="6" name="Picture 5" descr="modu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331720"/>
            <a:ext cx="5005892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5532119"/>
            <a:ext cx="112471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1A1F2E"/>
                </a:solidFill>
                <a:latin typeface="Calibri"/>
              </a:rPr>
              <a:t>core — процессор; memory — Flash/SRAM; bus — маршрутизация; nvic — прерывания; peripherals — устройства; simulator — главный цикл; ui и gdb_stub — интерфейсы.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A5A5A"/>
                </a:solidFill>
                <a:latin typeface="Consolas"/>
              </a:rPr>
              <a:t>Картинка 2 · Каталог src/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46520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5A5A5A"/>
                </a:solidFill>
                <a:latin typeface="Consolas"/>
              </a:rPr>
              <a:t>09 / 34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D69700"/>
                </a:solidFill>
                <a:latin typeface="Consolas"/>
              </a:rPr>
              <a:t>Картинка 3 · Карта памяти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1A1F2E"/>
                </a:solidFill>
                <a:latin typeface="Consolas"/>
              </a:rPr>
              <a:t>Адресное пространство такое же, как в datasheet STM32F103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554480"/>
            <a:ext cx="112471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1">
                <a:solidFill>
                  <a:srgbClr val="1A1F2E"/>
                </a:solidFill>
                <a:latin typeface="Calibri"/>
              </a:rPr>
              <a:t>Прошивка обращается к регистрам по тем же адресам, что и на кристалле: 0x4000_0000 — TIM2, 0x4001_3800 — USART1. Поэтому код, собранный под реальный чип, работает в симуляторе без правок.</a:t>
            </a:r>
          </a:p>
        </p:txBody>
      </p:sp>
      <p:pic>
        <p:nvPicPr>
          <p:cNvPr id="6" name="Picture 5" descr="memory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331720"/>
            <a:ext cx="8419381" cy="2743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5166359"/>
            <a:ext cx="1124712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1A1F2E"/>
                </a:solidFill>
                <a:latin typeface="Calibri"/>
              </a:rPr>
              <a:t>Особенность: Flash доступен как 0x0000_0000 (alias для векторной таблицы при сбросе) и как 0x0800_0000 — это поведение настоящего STM32.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A5A5A"/>
                </a:solidFill>
                <a:latin typeface="Consolas"/>
              </a:rPr>
              <a:t>Картинка 3 · Карта памяти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46520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5A5A5A"/>
                </a:solidFill>
                <a:latin typeface="Consolas"/>
              </a:rPr>
              <a:t>10 / 34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D69700"/>
                </a:solidFill>
                <a:latin typeface="Consolas"/>
              </a:rPr>
              <a:t>Картинка 4 · Один такт симулятора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1A1F2E"/>
                </a:solidFill>
                <a:latin typeface="Consolas"/>
              </a:rPr>
              <a:t>Жёсткий порядок шагов даёт детерминизм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554480"/>
            <a:ext cx="112471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1">
                <a:solidFill>
                  <a:srgbClr val="1A1F2E"/>
                </a:solidFill>
                <a:latin typeface="Calibri"/>
              </a:rPr>
              <a:t>Сначала тикают периферии (таймеры могут поднять IRQ), потом исполняется одна инструкция, потом NVIC решает, нужно ли войти в обработчик, и в конце проверяются breakpoints.</a:t>
            </a:r>
          </a:p>
        </p:txBody>
      </p:sp>
      <p:pic>
        <p:nvPicPr>
          <p:cNvPr id="6" name="Picture 5" descr="sim_cyc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331720"/>
            <a:ext cx="6630595" cy="21945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4617719"/>
            <a:ext cx="1124712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1A1F2E"/>
                </a:solidFill>
                <a:latin typeface="Calibri"/>
              </a:rPr>
              <a:t>Этот порядок жёстко зафиксирован в simulator_step и не меняется. Тесты опираются на эту повторяемость — поэтому они не «мигают» от запуска к запуску.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A5A5A"/>
                </a:solidFill>
                <a:latin typeface="Consolas"/>
              </a:rPr>
              <a:t>Картинка 4 · Один такт симулятора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46520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5A5A5A"/>
                </a:solidFill>
                <a:latin typeface="Consolas"/>
              </a:rPr>
              <a:t>11 / 34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F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0"/>
            <a:ext cx="7315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FB300"/>
                </a:solidFill>
                <a:latin typeface="Consolas"/>
              </a:rPr>
              <a:t>РАЗДЕЛ 03 / 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468880"/>
            <a:ext cx="10972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5F1E8"/>
                </a:solidFill>
                <a:latin typeface="Consolas"/>
              </a:rPr>
              <a:t>Ядро и периферия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572000"/>
            <a:ext cx="100584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 i="1">
                <a:solidFill>
                  <a:srgbClr val="ECE7DB"/>
                </a:solidFill>
                <a:latin typeface="Calibri"/>
              </a:rPr>
              <a:t>Что именно умеет наш процессор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D69700"/>
                </a:solidFill>
                <a:latin typeface="Consolas"/>
              </a:rPr>
              <a:t>Cortex-M3 core/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A1F2E"/>
                </a:solidFill>
                <a:latin typeface="Consolas"/>
              </a:rPr>
              <a:t>Процессор: чем он умеет «думать»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874519"/>
            <a:ext cx="5349240" cy="4572000"/>
          </a:xfrm>
          <a:prstGeom prst="rect">
            <a:avLst/>
          </a:prstGeom>
          <a:solidFill>
            <a:srgbClr val="ECE7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355080" y="1874519"/>
            <a:ext cx="5349240" cy="4572000"/>
          </a:xfrm>
          <a:prstGeom prst="rect">
            <a:avLst/>
          </a:prstGeom>
          <a:solidFill>
            <a:srgbClr val="ECE7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011680"/>
            <a:ext cx="4800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B7A78"/>
                </a:solidFill>
                <a:latin typeface="Consolas"/>
              </a:rPr>
              <a:t>Состояние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606040"/>
            <a:ext cx="4800600" cy="3749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1A1F2E"/>
                </a:solidFill>
                <a:latin typeface="Calibri"/>
              </a:rPr>
              <a:t>• Регистры R0–R15, xPSR (N/Z/C/V)</a:t>
            </a:r>
          </a:p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1A1F2E"/>
                </a:solidFill>
                <a:latin typeface="Calibri"/>
              </a:rPr>
              <a:t>• Флаги: thumb_mode, interruptible</a:t>
            </a:r>
          </a:p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1A1F2E"/>
                </a:solidFill>
                <a:latin typeface="Calibri"/>
              </a:rPr>
              <a:t>• Счётчик cycles (uint64)</a:t>
            </a:r>
          </a:p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1A1F2E"/>
                </a:solidFill>
                <a:latin typeface="Calibri"/>
              </a:rPr>
              <a:t>• Текущий IRQ — для вложенности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29400" y="2011680"/>
            <a:ext cx="4800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D69700"/>
                </a:solidFill>
                <a:latin typeface="Consolas"/>
              </a:rPr>
              <a:t>Декодер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29400" y="2606040"/>
            <a:ext cx="4800600" cy="3749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1A1F2E"/>
                </a:solidFill>
                <a:latin typeface="Calibri"/>
              </a:rPr>
              <a:t>• Таблица 16-бит: маска + паттерн</a:t>
            </a:r>
          </a:p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1A1F2E"/>
                </a:solidFill>
                <a:latin typeface="Calibri"/>
              </a:rPr>
              <a:t>• Отдельный путь для Thumb-2 32-bit</a:t>
            </a:r>
          </a:p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1A1F2E"/>
                </a:solidFill>
                <a:latin typeface="Calibri"/>
              </a:rPr>
              <a:t>• BL, MOVW/MOVT, UMULL, SMULL, MUL</a:t>
            </a:r>
          </a:p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1A1F2E"/>
                </a:solidFill>
                <a:latin typeface="Calibri"/>
              </a:rPr>
              <a:t>• Условные ветвления по флагам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4652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A5A5A"/>
                </a:solidFill>
                <a:latin typeface="Consolas"/>
              </a:rPr>
              <a:t>Cortex-M3 core/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6446520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5A5A5A"/>
                </a:solidFill>
                <a:latin typeface="Consolas"/>
              </a:rPr>
              <a:t>13 / 34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D69700"/>
                </a:solidFill>
                <a:latin typeface="Consolas"/>
              </a:rPr>
              <a:t>core/ · core_step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1A1F2E"/>
                </a:solidFill>
                <a:latin typeface="Consolas"/>
              </a:rPr>
              <a:t>Один такт работы ядра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55448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1">
                <a:solidFill>
                  <a:srgbClr val="1A1F2E"/>
                </a:solidFill>
                <a:latin typeface="Calibri"/>
              </a:rPr>
              <a:t>Так выглядит сердце симулятора: декод инструкции, исполнение, обновление регистров.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2240280"/>
            <a:ext cx="11155680" cy="3200400"/>
          </a:xfrm>
          <a:prstGeom prst="rect">
            <a:avLst/>
          </a:prstGeom>
          <a:solidFill>
            <a:srgbClr val="1A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377440"/>
            <a:ext cx="10789920" cy="2926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5F1E8"/>
                </a:solidFill>
                <a:latin typeface="Consolas"/>
              </a:rPr>
              <a:t>Status core_step(Core* core)</a:t>
            </a:r>
          </a:p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5F1E8"/>
                </a:solidFill>
                <a:latin typeface="Consolas"/>
              </a:rPr>
              <a:t>{</a:t>
            </a:r>
          </a:p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5F1E8"/>
                </a:solidFill>
                <a:latin typeface="Consolas"/>
              </a:rPr>
              <a:t>    uint16_t instr = bus_read(core-&gt;bus, core-&gt;state.r[15], 2);</a:t>
            </a:r>
          </a:p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5F1E8"/>
                </a:solidFill>
                <a:latin typeface="Consolas"/>
              </a:rPr>
              <a:t>    if ((instr &amp; 0xE000) == 0xE000 &amp;&amp; (instr &amp; 0x1800)) {</a:t>
            </a:r>
          </a:p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5F1E8"/>
                </a:solidFill>
                <a:latin typeface="Consolas"/>
              </a:rPr>
              <a:t>        // Thumb-2: BL, MOVW/MOVT, UMULL, …</a:t>
            </a:r>
          </a:p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5F1E8"/>
                </a:solidFill>
                <a:latin typeface="Consolas"/>
              </a:rPr>
              <a:t>        execute_32bit(core, instr, hw2);</a:t>
            </a:r>
          </a:p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5F1E8"/>
                </a:solidFill>
                <a:latin typeface="Consolas"/>
              </a:rPr>
              <a:t>    } else {</a:t>
            </a:r>
          </a:p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5F1E8"/>
                </a:solidFill>
                <a:latin typeface="Consolas"/>
              </a:rPr>
              <a:t>        // Линейный поиск по таблице 16-бит инструкций</a:t>
            </a:r>
          </a:p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5F1E8"/>
                </a:solidFill>
                <a:latin typeface="Consolas"/>
              </a:rPr>
              <a:t>        for (entry = instr_table; entry-&gt;handler; ++entry)</a:t>
            </a:r>
          </a:p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5F1E8"/>
                </a:solidFill>
                <a:latin typeface="Consolas"/>
              </a:rPr>
              <a:t>            if ((instr &amp; entry-&gt;mask) == entry-&gt;pattern) break;</a:t>
            </a:r>
          </a:p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5F1E8"/>
                </a:solidFill>
                <a:latin typeface="Consolas"/>
              </a:rPr>
              <a:t>        entry-&gt;handler(core, instr);</a:t>
            </a:r>
          </a:p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5F1E8"/>
                </a:solidFill>
                <a:latin typeface="Consolas"/>
              </a:rPr>
              <a:t>    }</a:t>
            </a:r>
          </a:p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5F1E8"/>
                </a:solidFill>
                <a:latin typeface="Consolas"/>
              </a:rPr>
              <a:t>    CYCLES++;</a:t>
            </a:r>
          </a:p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5F1E8"/>
                </a:solidFill>
                <a:latin typeface="Consolas"/>
              </a:rPr>
              <a:t>    if (core-&gt;state.interruptible)</a:t>
            </a:r>
          </a:p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5F1E8"/>
                </a:solidFill>
                <a:latin typeface="Consolas"/>
              </a:rPr>
              <a:t>        if (nvic_get_pending_irq(...)) enter_exception(...);</a:t>
            </a:r>
          </a:p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5F1E8"/>
                </a:solidFill>
                <a:latin typeface="Consolas"/>
              </a:rP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5532120"/>
            <a:ext cx="112471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1A1F2E"/>
                </a:solidFill>
                <a:latin typeface="Calibri"/>
              </a:rPr>
              <a:t>Таблица отсортирована: более специфичные паттерны сверху. Это типичный приём для интерпретаторов ARM — простой, расширяемый, легко покрывается тестами.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4652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A5A5A"/>
                </a:solidFill>
                <a:latin typeface="Consolas"/>
              </a:rPr>
              <a:t>core/ · core_step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46520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5A5A5A"/>
                </a:solidFill>
                <a:latin typeface="Consolas"/>
              </a:rPr>
              <a:t>14 / 34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D69700"/>
                </a:solidFill>
                <a:latin typeface="Consolas"/>
              </a:rPr>
              <a:t>nvic/ · контроллер прерываний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A1F2E"/>
                </a:solidFill>
                <a:latin typeface="Consolas"/>
              </a:rPr>
              <a:t>Кто и когда прерывает наш CPU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874519"/>
            <a:ext cx="5349240" cy="4572000"/>
          </a:xfrm>
          <a:prstGeom prst="rect">
            <a:avLst/>
          </a:prstGeom>
          <a:solidFill>
            <a:srgbClr val="ECE7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355080" y="1874519"/>
            <a:ext cx="5349240" cy="4572000"/>
          </a:xfrm>
          <a:prstGeom prst="rect">
            <a:avLst/>
          </a:prstGeom>
          <a:solidFill>
            <a:srgbClr val="ECE7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011680"/>
            <a:ext cx="4800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B7A78"/>
                </a:solidFill>
                <a:latin typeface="Consolas"/>
              </a:rPr>
              <a:t>Что хранится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606040"/>
            <a:ext cx="4800600" cy="3749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1A1F2E"/>
                </a:solidFill>
                <a:latin typeface="Calibri"/>
              </a:rPr>
              <a:t>• До 43 линий IRQ + SysTick</a:t>
            </a:r>
          </a:p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1A1F2E"/>
                </a:solidFill>
                <a:latin typeface="Calibri"/>
              </a:rPr>
              <a:t>• pending / active / enabled / priority</a:t>
            </a:r>
          </a:p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1A1F2E"/>
                </a:solidFill>
                <a:latin typeface="Calibri"/>
              </a:rPr>
              <a:t>• current_priority — кто сейчас</a:t>
            </a:r>
          </a:p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1A1F2E"/>
                </a:solidFill>
                <a:latin typeface="Calibri"/>
              </a:rPr>
              <a:t>• Меньше число — выше приоритет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29400" y="2011680"/>
            <a:ext cx="4800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D69700"/>
                </a:solidFill>
                <a:latin typeface="Consolas"/>
              </a:rPr>
              <a:t>Что делает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29400" y="2606040"/>
            <a:ext cx="4800600" cy="3749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1A1F2E"/>
                </a:solidFill>
                <a:latin typeface="Calibri"/>
              </a:rPr>
              <a:t>• set_pending — периферия просит</a:t>
            </a:r>
          </a:p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1A1F2E"/>
                </a:solidFill>
                <a:latin typeface="Calibri"/>
              </a:rPr>
              <a:t>• get_pending_irq — выбор по приоритету</a:t>
            </a:r>
          </a:p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1A1F2E"/>
                </a:solidFill>
                <a:latin typeface="Calibri"/>
              </a:rPr>
              <a:t>• acknowledge / complete — вход / выход</a:t>
            </a:r>
          </a:p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1A1F2E"/>
                </a:solidFill>
                <a:latin typeface="Calibri"/>
              </a:rPr>
              <a:t>• MMIO в стиле CMSIS (ISER, ICER, IPR)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4652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A5A5A"/>
                </a:solidFill>
                <a:latin typeface="Consolas"/>
              </a:rPr>
              <a:t>nvic/ · контроллер прерываний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6446520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5A5A5A"/>
                </a:solidFill>
                <a:latin typeface="Consolas"/>
              </a:rPr>
              <a:t>15 / 34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D69700"/>
                </a:solidFill>
                <a:latin typeface="Consolas"/>
              </a:rPr>
              <a:t>nvic/ · MMIO в стиле CMSIS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109728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1A1F2E"/>
                </a:solidFill>
                <a:latin typeface="Consolas"/>
              </a:rPr>
              <a:t>Прошивка работает с прерываниями как с обычной памятью.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468880"/>
            <a:ext cx="1124712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i="0">
                <a:solidFill>
                  <a:srgbClr val="1A1F2E"/>
                </a:solidFill>
                <a:latin typeface="Calibri"/>
              </a:rPr>
              <a:t>В файле nvic_bus.c регистры NVIC отображены на адреса по правилам ARM CMSIS: ISER/ICER (включить/выключить IRQ), ISPR/ICPR (поднять/снять pending), IPR (приоритеты). Это значит, что HAL и stm32f1xx.h видят наш симулятор так же, как настоящий чип.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A5A5A"/>
                </a:solidFill>
                <a:latin typeface="Consolas"/>
              </a:rPr>
              <a:t>nvic/ · MMIO в стиле CMSIS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5A5A5A"/>
                </a:solidFill>
                <a:latin typeface="Consolas"/>
              </a:rPr>
              <a:t>16 / 34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D69700"/>
                </a:solidFill>
                <a:latin typeface="Consolas"/>
              </a:rPr>
              <a:t>Периферия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A1F2E"/>
                </a:solidFill>
                <a:latin typeface="Consolas"/>
              </a:rPr>
              <a:t>Шесть устройств — каждое со своим vtable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874519"/>
            <a:ext cx="3703320" cy="2240280"/>
          </a:xfrm>
          <a:prstGeom prst="rect">
            <a:avLst/>
          </a:prstGeom>
          <a:solidFill>
            <a:srgbClr val="ECE7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31520" y="2103119"/>
            <a:ext cx="640080" cy="640080"/>
          </a:xfrm>
          <a:prstGeom prst="ellipse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1A1F2E"/>
                </a:solidFill>
                <a:latin typeface="Consola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" y="2057399"/>
            <a:ext cx="2606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A1F2E"/>
                </a:solidFill>
                <a:latin typeface="Consolas"/>
              </a:rPr>
              <a:t>TIM2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743199"/>
            <a:ext cx="333756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1A1F2E"/>
                </a:solidFill>
                <a:latin typeface="Calibri"/>
              </a:rPr>
              <a:t>Базовый таймер с PSC и ARR. UIF в SR; событие в event_queue даёт IRQ 28.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1874519"/>
            <a:ext cx="3703320" cy="2240280"/>
          </a:xfrm>
          <a:prstGeom prst="rect">
            <a:avLst/>
          </a:prstGeom>
          <a:solidFill>
            <a:srgbClr val="ECE7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617720" y="2103119"/>
            <a:ext cx="640080" cy="640080"/>
          </a:xfrm>
          <a:prstGeom prst="ellipse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1A1F2E"/>
                </a:solidFill>
                <a:latin typeface="Consolas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94960" y="2057399"/>
            <a:ext cx="2606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A1F2E"/>
                </a:solidFill>
                <a:latin typeface="Consolas"/>
              </a:rPr>
              <a:t>USART1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2743199"/>
            <a:ext cx="333756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1A1F2E"/>
                </a:solidFill>
                <a:latin typeface="Calibri"/>
              </a:rPr>
              <a:t>TX и RX, прерывания TXEIE / RXNEIE → IRQ 37; SVG-диаграмма для отладки.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75320" y="1874519"/>
            <a:ext cx="3703320" cy="2240280"/>
          </a:xfrm>
          <a:prstGeom prst="rect">
            <a:avLst/>
          </a:prstGeom>
          <a:solidFill>
            <a:srgbClr val="ECE7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503920" y="2103119"/>
            <a:ext cx="640080" cy="640080"/>
          </a:xfrm>
          <a:prstGeom prst="ellipse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1A1F2E"/>
                </a:solidFill>
                <a:latin typeface="Consolas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81160" y="2057399"/>
            <a:ext cx="2606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A1F2E"/>
                </a:solidFill>
                <a:latin typeface="Consolas"/>
              </a:rPr>
              <a:t>SysTick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2743199"/>
            <a:ext cx="333756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1A1F2E"/>
                </a:solidFill>
                <a:latin typeface="Calibri"/>
              </a:rPr>
              <a:t>Системный таймер CPU. TICKINT → исключение 15, обходит NVIC IRQ-линии.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4297679"/>
            <a:ext cx="3703320" cy="2240280"/>
          </a:xfrm>
          <a:prstGeom prst="rect">
            <a:avLst/>
          </a:prstGeom>
          <a:solidFill>
            <a:srgbClr val="ECE7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31520" y="4526279"/>
            <a:ext cx="640080" cy="640080"/>
          </a:xfrm>
          <a:prstGeom prst="ellipse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1A1F2E"/>
                </a:solidFill>
                <a:latin typeface="Consolas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480559"/>
            <a:ext cx="2606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A1F2E"/>
                </a:solidFill>
                <a:latin typeface="Consolas"/>
              </a:rPr>
              <a:t>GPIO A/B/C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166359"/>
            <a:ext cx="333756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1A1F2E"/>
                </a:solidFill>
                <a:latin typeface="Calibri"/>
              </a:rPr>
              <a:t>CRL/CRH/IDR/ODR/BSRR. Можно слать пины снаружи через gpio_set_pin.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89120" y="4297679"/>
            <a:ext cx="3703320" cy="2240280"/>
          </a:xfrm>
          <a:prstGeom prst="rect">
            <a:avLst/>
          </a:prstGeom>
          <a:solidFill>
            <a:srgbClr val="ECE7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617720" y="4526279"/>
            <a:ext cx="640080" cy="640080"/>
          </a:xfrm>
          <a:prstGeom prst="ellipse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1A1F2E"/>
                </a:solidFill>
                <a:latin typeface="Consolas"/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94960" y="4480559"/>
            <a:ext cx="2606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A1F2E"/>
                </a:solidFill>
                <a:latin typeface="Consolas"/>
              </a:rPr>
              <a:t>RCC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17720" y="5166359"/>
            <a:ext cx="333756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1A1F2E"/>
                </a:solidFill>
                <a:latin typeface="Calibri"/>
              </a:rPr>
              <a:t>Упрощённо: ready-биты следуют за enable, SWS = SW. HAL не виснет.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75320" y="4297679"/>
            <a:ext cx="3703320" cy="2240280"/>
          </a:xfrm>
          <a:prstGeom prst="rect">
            <a:avLst/>
          </a:prstGeom>
          <a:solidFill>
            <a:srgbClr val="ECE7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503920" y="4526279"/>
            <a:ext cx="640080" cy="640080"/>
          </a:xfrm>
          <a:prstGeom prst="ellipse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1A1F2E"/>
                </a:solidFill>
                <a:latin typeface="Consolas"/>
              </a:rPr>
              <a:t>06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81160" y="4480559"/>
            <a:ext cx="2606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A1F2E"/>
                </a:solidFill>
                <a:latin typeface="Consolas"/>
              </a:rPr>
              <a:t>NVIC bus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03920" y="5166359"/>
            <a:ext cx="333756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1A1F2E"/>
                </a:solidFill>
                <a:latin typeface="Calibri"/>
              </a:rPr>
              <a:t>Регистры контроллера прерываний прямо как MMIO — для драйверов CMSIS.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44652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A5A5A"/>
                </a:solidFill>
                <a:latin typeface="Consolas"/>
              </a:rPr>
              <a:t>Периферия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15600" y="6446520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5A5A5A"/>
                </a:solidFill>
                <a:latin typeface="Consolas"/>
              </a:rPr>
              <a:t>17 / 34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D69700"/>
                </a:solidFill>
                <a:latin typeface="Consolas"/>
              </a:rPr>
              <a:t>Картинка 5 · Диаграмма UART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1A1F2E"/>
                </a:solidFill>
                <a:latin typeface="Consolas"/>
              </a:rPr>
              <a:t>Когда какой байт ушёл по линии TX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554480"/>
            <a:ext cx="112471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1">
                <a:solidFill>
                  <a:srgbClr val="1A1F2E"/>
                </a:solidFill>
                <a:latin typeface="Calibri"/>
              </a:rPr>
              <a:t>Симулятор умеет выводить SVG-диаграмму: каждый «столбик» — это байт на TX в момент симуляционного такта. Очень удобно показывать на защите, что прошивка реально шевелится.</a:t>
            </a:r>
          </a:p>
        </p:txBody>
      </p:sp>
      <p:pic>
        <p:nvPicPr>
          <p:cNvPr id="6" name="Picture 5" descr="uart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331720"/>
            <a:ext cx="7607808" cy="23774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4800600"/>
            <a:ext cx="1124712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1A1F2E"/>
                </a:solidFill>
                <a:latin typeface="Calibri"/>
              </a:rPr>
              <a:t>Эту диаграмму можно сохранить из CLI командой diagram-save или запросить из GDB через monitor uart-svg. Источник графики: uart_diagram.svg.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A5A5A"/>
                </a:solidFill>
                <a:latin typeface="Consolas"/>
              </a:rPr>
              <a:t>Картинка 5 · Диаграмма UART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46520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5A5A5A"/>
                </a:solidFill>
                <a:latin typeface="Consolas"/>
              </a:rPr>
              <a:t>18 / 34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F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0"/>
            <a:ext cx="7315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FB300"/>
                </a:solidFill>
                <a:latin typeface="Consolas"/>
              </a:rPr>
              <a:t>РАЗДЕЛ 04 / 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468880"/>
            <a:ext cx="10972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5F1E8"/>
                </a:solidFill>
                <a:latin typeface="Consolas"/>
              </a:rPr>
              <a:t>Отладка и тесты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572000"/>
            <a:ext cx="100584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 i="1">
                <a:solidFill>
                  <a:srgbClr val="ECE7DB"/>
                </a:solidFill>
                <a:latin typeface="Calibri"/>
              </a:rPr>
              <a:t>Чем доказываем, что работает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D69700"/>
                </a:solidFill>
                <a:latin typeface="Consolas"/>
              </a:rPr>
              <a:t>gdb_stub/ · удалённая отладка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A1F2E"/>
                </a:solidFill>
                <a:latin typeface="Consolas"/>
              </a:rPr>
              <a:t>Привычный GDB подключается к симулятору по TCP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874519"/>
            <a:ext cx="5349240" cy="4572000"/>
          </a:xfrm>
          <a:prstGeom prst="rect">
            <a:avLst/>
          </a:prstGeom>
          <a:solidFill>
            <a:srgbClr val="ECE7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355080" y="1874519"/>
            <a:ext cx="5349240" cy="4572000"/>
          </a:xfrm>
          <a:prstGeom prst="rect">
            <a:avLst/>
          </a:prstGeom>
          <a:solidFill>
            <a:srgbClr val="ECE7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011680"/>
            <a:ext cx="4800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B7A78"/>
                </a:solidFill>
                <a:latin typeface="Consolas"/>
              </a:rPr>
              <a:t>Поддержанные пакеты RSP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606040"/>
            <a:ext cx="4800600" cy="3749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1A1F2E"/>
                </a:solidFill>
                <a:latin typeface="Calibri"/>
              </a:rPr>
              <a:t>• ? · g · G · p · P  — регистры</a:t>
            </a:r>
          </a:p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1A1F2E"/>
                </a:solidFill>
                <a:latin typeface="Calibri"/>
              </a:rPr>
              <a:t>• m · M  — память (через шину)</a:t>
            </a:r>
          </a:p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1A1F2E"/>
                </a:solidFill>
                <a:latin typeface="Calibri"/>
              </a:rPr>
              <a:t>• c · s  — continue / step</a:t>
            </a:r>
          </a:p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1A1F2E"/>
                </a:solidFill>
                <a:latin typeface="Calibri"/>
              </a:rPr>
              <a:t>• Z · z  — программные breakpoints</a:t>
            </a:r>
          </a:p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1A1F2E"/>
                </a:solidFill>
                <a:latin typeface="Calibri"/>
              </a:rPr>
              <a:t>• qXfer:features:read  — target.xml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29400" y="2011680"/>
            <a:ext cx="4800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D69700"/>
                </a:solidFill>
                <a:latin typeface="Consolas"/>
              </a:rPr>
              <a:t>Monitor-команды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29400" y="2606040"/>
            <a:ext cx="4800600" cy="3749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1A1F2E"/>
                </a:solidFill>
                <a:latin typeface="Calibri"/>
              </a:rPr>
              <a:t>• monitor halt / reset / reset halt</a:t>
            </a:r>
          </a:p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1A1F2E"/>
                </a:solidFill>
                <a:latin typeface="Calibri"/>
              </a:rPr>
              <a:t>• monitor uart-diagram / uart-clear</a:t>
            </a:r>
          </a:p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1A1F2E"/>
                </a:solidFill>
                <a:latin typeface="Calibri"/>
              </a:rPr>
              <a:t>• monitor uart-svg</a:t>
            </a:r>
          </a:p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1A1F2E"/>
                </a:solidFill>
                <a:latin typeface="Calibri"/>
              </a:rPr>
              <a:t>• qSupported, H, T, D, k — без боли</a:t>
            </a:r>
          </a:p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1A1F2E"/>
                </a:solidFill>
                <a:latin typeface="Calibri"/>
              </a:rPr>
              <a:t>• Как у настоящего gdbserver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4652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A5A5A"/>
                </a:solidFill>
                <a:latin typeface="Consolas"/>
              </a:rPr>
              <a:t>gdb_stub/ · удалённая отладка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6446520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5A5A5A"/>
                </a:solidFill>
                <a:latin typeface="Consolas"/>
              </a:rPr>
              <a:t>20 / 34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D69700"/>
                </a:solidFill>
                <a:latin typeface="Consolas"/>
              </a:rPr>
              <a:t>ui/ · CLI-команды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A1F2E"/>
                </a:solidFill>
                <a:latin typeface="Consolas"/>
              </a:rPr>
              <a:t>Самые нужные команды интерактивного режима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874519"/>
            <a:ext cx="11155680" cy="502920"/>
          </a:xfrm>
          <a:prstGeom prst="rect">
            <a:avLst/>
          </a:prstGeom>
          <a:solidFill>
            <a:srgbClr val="1A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938527"/>
            <a:ext cx="5394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FB300"/>
                </a:solidFill>
                <a:latin typeface="Consolas"/>
              </a:rPr>
              <a:t>Команда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938527"/>
            <a:ext cx="5394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FB300"/>
                </a:solidFill>
                <a:latin typeface="Consolas"/>
              </a:rPr>
              <a:t>Что делает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377439"/>
            <a:ext cx="11155680" cy="50292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468879"/>
            <a:ext cx="5394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1A1F2E"/>
                </a:solidFill>
                <a:latin typeface="Calibri"/>
              </a:rPr>
              <a:t>help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2468879"/>
            <a:ext cx="5394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1A1F2E"/>
                </a:solidFill>
                <a:latin typeface="Calibri"/>
              </a:rPr>
              <a:t>список всех команд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880359"/>
            <a:ext cx="11155680" cy="502920"/>
          </a:xfrm>
          <a:prstGeom prst="rect">
            <a:avLst/>
          </a:prstGeom>
          <a:solidFill>
            <a:srgbClr val="ECE7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971799"/>
            <a:ext cx="5394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1A1F2E"/>
                </a:solidFill>
                <a:latin typeface="Calibri"/>
              </a:rPr>
              <a:t>load &lt;путь&gt;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2971799"/>
            <a:ext cx="5394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1A1F2E"/>
                </a:solidFill>
                <a:latin typeface="Calibri"/>
              </a:rPr>
              <a:t>загрузить .bin во Flash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3383279"/>
            <a:ext cx="11155680" cy="50292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474719"/>
            <a:ext cx="5394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1A1F2E"/>
                </a:solidFill>
                <a:latin typeface="Calibri"/>
              </a:rPr>
              <a:t>step [N] · run · stop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3474719"/>
            <a:ext cx="5394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1A1F2E"/>
                </a:solidFill>
                <a:latin typeface="Calibri"/>
              </a:rPr>
              <a:t>выполнение и пауза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3886199"/>
            <a:ext cx="11155680" cy="502920"/>
          </a:xfrm>
          <a:prstGeom prst="rect">
            <a:avLst/>
          </a:prstGeom>
          <a:solidFill>
            <a:srgbClr val="ECE7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977639"/>
            <a:ext cx="5394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1A1F2E"/>
                </a:solidFill>
                <a:latin typeface="Calibri"/>
              </a:rPr>
              <a:t>reg · mem &lt;addr&gt;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3977639"/>
            <a:ext cx="5394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1A1F2E"/>
                </a:solidFill>
                <a:latin typeface="Calibri"/>
              </a:rPr>
              <a:t>состояние процессора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4389119"/>
            <a:ext cx="11155680" cy="50292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4480559"/>
            <a:ext cx="5394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1A1F2E"/>
                </a:solidFill>
                <a:latin typeface="Calibri"/>
              </a:rPr>
              <a:t>break &lt;addr&gt; · delete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4480559"/>
            <a:ext cx="5394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1A1F2E"/>
                </a:solidFill>
                <a:latin typeface="Calibri"/>
              </a:rPr>
              <a:t>точки останова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4892039"/>
            <a:ext cx="11155680" cy="502920"/>
          </a:xfrm>
          <a:prstGeom prst="rect">
            <a:avLst/>
          </a:prstGeom>
          <a:solidFill>
            <a:srgbClr val="ECE7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4983479"/>
            <a:ext cx="5394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1A1F2E"/>
                </a:solidFill>
                <a:latin typeface="Calibri"/>
              </a:rPr>
              <a:t>uart &lt;ch&gt; · diagram-save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4983479"/>
            <a:ext cx="5394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1A1F2E"/>
                </a:solidFill>
                <a:latin typeface="Calibri"/>
              </a:rPr>
              <a:t>ввод и SVG-вывод UART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5394959"/>
            <a:ext cx="11155680" cy="50292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5486399"/>
            <a:ext cx="5394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1A1F2E"/>
                </a:solidFill>
                <a:latin typeface="Calibri"/>
              </a:rPr>
              <a:t>profile · quit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0" y="5486399"/>
            <a:ext cx="5394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1A1F2E"/>
                </a:solidFill>
                <a:latin typeface="Calibri"/>
              </a:rPr>
              <a:t>профилировщик и выход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5897880"/>
            <a:ext cx="112471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5A5A5A"/>
                </a:solidFill>
                <a:latin typeface="Calibri"/>
              </a:rPr>
              <a:t>Парсер написан вручную — простой strcmp по таблице команд. Это видно начинающему и легко расширяется новыми командами без правки старого кода.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44652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A5A5A"/>
                </a:solidFill>
                <a:latin typeface="Consolas"/>
              </a:rPr>
              <a:t>ui/ · CLI-команды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0" y="6446520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5A5A5A"/>
                </a:solidFill>
                <a:latin typeface="Consolas"/>
              </a:rPr>
              <a:t>21 / 34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D69700"/>
                </a:solidFill>
                <a:latin typeface="Consolas"/>
              </a:rPr>
              <a:t>Тесты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1A1F2E"/>
                </a:solidFill>
                <a:latin typeface="Consolas"/>
              </a:rPr>
              <a:t>Что проверяет make test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011680"/>
            <a:ext cx="2537460" cy="2743200"/>
          </a:xfrm>
          <a:prstGeom prst="rect">
            <a:avLst/>
          </a:prstGeom>
          <a:solidFill>
            <a:srgbClr val="1A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2148840"/>
            <a:ext cx="2446020" cy="1645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6400" b="1" i="0">
                <a:solidFill>
                  <a:srgbClr val="FFB300"/>
                </a:solidFill>
                <a:latin typeface="Consolas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886200"/>
            <a:ext cx="24460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0" i="0">
                <a:solidFill>
                  <a:srgbClr val="F5F1E8"/>
                </a:solidFill>
                <a:latin typeface="Calibri"/>
              </a:rPr>
              <a:t>сьютов</a:t>
            </a:r>
          </a:p>
          <a:p>
            <a:pPr algn="ctr">
              <a:lnSpc>
                <a:spcPct val="120000"/>
              </a:lnSpc>
            </a:pPr>
            <a:r>
              <a:rPr sz="1400" b="0" i="0">
                <a:solidFill>
                  <a:srgbClr val="F5F1E8"/>
                </a:solidFill>
                <a:latin typeface="Calibri"/>
              </a:rPr>
              <a:t>по модулям</a:t>
            </a:r>
          </a:p>
        </p:txBody>
      </p:sp>
      <p:sp>
        <p:nvSpPr>
          <p:cNvPr id="8" name="Rectangle 7"/>
          <p:cNvSpPr/>
          <p:nvPr/>
        </p:nvSpPr>
        <p:spPr>
          <a:xfrm>
            <a:off x="3177540" y="2011680"/>
            <a:ext cx="2537460" cy="2743200"/>
          </a:xfrm>
          <a:prstGeom prst="rect">
            <a:avLst/>
          </a:prstGeom>
          <a:solidFill>
            <a:srgbClr val="1A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23260" y="2148840"/>
            <a:ext cx="2446020" cy="1645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6400" b="1" i="0">
                <a:solidFill>
                  <a:srgbClr val="FFB300"/>
                </a:solidFill>
                <a:latin typeface="Consolas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23260" y="3886200"/>
            <a:ext cx="24460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0" i="0">
                <a:solidFill>
                  <a:srgbClr val="F5F1E8"/>
                </a:solidFill>
                <a:latin typeface="Calibri"/>
              </a:rPr>
              <a:t>интеграционных</a:t>
            </a:r>
          </a:p>
          <a:p>
            <a:pPr algn="ctr">
              <a:lnSpc>
                <a:spcPct val="120000"/>
              </a:lnSpc>
            </a:pPr>
            <a:r>
              <a:rPr sz="1400" b="0" i="0">
                <a:solidFill>
                  <a:srgbClr val="F5F1E8"/>
                </a:solidFill>
                <a:latin typeface="Calibri"/>
              </a:rPr>
              <a:t>сценария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806440" y="2011680"/>
            <a:ext cx="2537460" cy="2743200"/>
          </a:xfrm>
          <a:prstGeom prst="rect">
            <a:avLst/>
          </a:prstGeom>
          <a:solidFill>
            <a:srgbClr val="1A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52160" y="2148840"/>
            <a:ext cx="2446020" cy="1645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6400" b="1" i="0">
                <a:solidFill>
                  <a:srgbClr val="FFB300"/>
                </a:solidFill>
                <a:latin typeface="Consolas"/>
              </a:rPr>
              <a:t>100%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0" y="3886200"/>
            <a:ext cx="24460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0" i="0">
                <a:solidFill>
                  <a:srgbClr val="F5F1E8"/>
                </a:solidFill>
                <a:latin typeface="Calibri"/>
              </a:rPr>
              <a:t>ключевых</a:t>
            </a:r>
          </a:p>
          <a:p>
            <a:pPr algn="ctr">
              <a:lnSpc>
                <a:spcPct val="120000"/>
              </a:lnSpc>
            </a:pPr>
            <a:r>
              <a:rPr sz="1400" b="0" i="0">
                <a:solidFill>
                  <a:srgbClr val="F5F1E8"/>
                </a:solidFill>
                <a:latin typeface="Calibri"/>
              </a:rPr>
              <a:t>модулей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435340" y="2011680"/>
            <a:ext cx="2537460" cy="2743200"/>
          </a:xfrm>
          <a:prstGeom prst="rect">
            <a:avLst/>
          </a:prstGeom>
          <a:solidFill>
            <a:srgbClr val="1A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81060" y="2148840"/>
            <a:ext cx="2446020" cy="1645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6400" b="1" i="0">
                <a:solidFill>
                  <a:srgbClr val="FFB300"/>
                </a:solidFill>
                <a:latin typeface="Consolas"/>
              </a:rPr>
              <a:t>ASSERT*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81060" y="3886200"/>
            <a:ext cx="24460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0" i="0">
                <a:solidFill>
                  <a:srgbClr val="F5F1E8"/>
                </a:solidFill>
                <a:latin typeface="Calibri"/>
              </a:rPr>
              <a:t>макросы</a:t>
            </a:r>
          </a:p>
          <a:p>
            <a:pPr algn="ctr">
              <a:lnSpc>
                <a:spcPct val="120000"/>
              </a:lnSpc>
            </a:pPr>
            <a:r>
              <a:rPr sz="1400" b="0" i="0">
                <a:solidFill>
                  <a:srgbClr val="F5F1E8"/>
                </a:solidFill>
                <a:latin typeface="Calibri"/>
              </a:rPr>
              <a:t>с счётчиком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5074920"/>
            <a:ext cx="112471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0" i="1">
                <a:solidFill>
                  <a:srgbClr val="1A1F2E"/>
                </a:solidFill>
                <a:latin typeface="Calibri"/>
              </a:rPr>
              <a:t>Каркас минимальный: ASSERT_EQ при провале печатает файл, строку и условие, увеличивает счётчик и выходит из теста. RUN_TEST печатает PASS / FAIL и в конце — итог.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44652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A5A5A"/>
                </a:solidFill>
                <a:latin typeface="Consolas"/>
              </a:rPr>
              <a:t>Тесты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0" y="6446520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5A5A5A"/>
                </a:solidFill>
                <a:latin typeface="Consolas"/>
              </a:rPr>
              <a:t>22 / 34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D69700"/>
                </a:solidFill>
                <a:latin typeface="Consolas"/>
              </a:rPr>
              <a:t>Тесты · что проверяем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A1F2E"/>
                </a:solidFill>
                <a:latin typeface="Consolas"/>
              </a:rPr>
              <a:t>Юнит и интеграция бок о бок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874519"/>
            <a:ext cx="5349240" cy="4572000"/>
          </a:xfrm>
          <a:prstGeom prst="rect">
            <a:avLst/>
          </a:prstGeom>
          <a:solidFill>
            <a:srgbClr val="ECE7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355080" y="1874519"/>
            <a:ext cx="5349240" cy="4572000"/>
          </a:xfrm>
          <a:prstGeom prst="rect">
            <a:avLst/>
          </a:prstGeom>
          <a:solidFill>
            <a:srgbClr val="ECE7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011680"/>
            <a:ext cx="4800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B7A78"/>
                </a:solidFill>
                <a:latin typeface="Consolas"/>
              </a:rPr>
              <a:t>Юнит-тесты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606040"/>
            <a:ext cx="4800600" cy="3749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1A1F2E"/>
                </a:solidFill>
                <a:latin typeface="Calibri"/>
              </a:rPr>
              <a:t>• core: MOV, ADD, CMP+B, PUSH/POP, MUL, BL+BX</a:t>
            </a:r>
          </a:p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1A1F2E"/>
                </a:solidFill>
                <a:latin typeface="Calibri"/>
              </a:rPr>
              <a:t>• memory + bus: alias 0x0/0x08000000</a:t>
            </a:r>
          </a:p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1A1F2E"/>
                </a:solidFill>
                <a:latin typeface="Calibri"/>
              </a:rPr>
              <a:t>• nvic: приоритеты и вложенность</a:t>
            </a:r>
          </a:p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1A1F2E"/>
                </a:solidFill>
                <a:latin typeface="Calibri"/>
              </a:rPr>
              <a:t>• timer/systick: переполнение и IRQ</a:t>
            </a:r>
          </a:p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1A1F2E"/>
                </a:solidFill>
                <a:latin typeface="Calibri"/>
              </a:rPr>
              <a:t>• uart/gpio/rcc: регистры и поведение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29400" y="2011680"/>
            <a:ext cx="4800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D69700"/>
                </a:solidFill>
                <a:latin typeface="Consolas"/>
              </a:rPr>
              <a:t>Интеграция (test_integration.c)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29400" y="2606040"/>
            <a:ext cx="4800600" cy="3749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1A1F2E"/>
                </a:solidFill>
                <a:latin typeface="Calibri"/>
              </a:rPr>
              <a:t>• TIM2 → NVIC → handler → BX LR</a:t>
            </a:r>
          </a:p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1A1F2E"/>
                </a:solidFill>
                <a:latin typeface="Calibri"/>
              </a:rPr>
              <a:t>• Breakpoint останавливает simulator_run</a:t>
            </a:r>
          </a:p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1A1F2E"/>
                </a:solidFill>
                <a:latin typeface="Calibri"/>
              </a:rPr>
              <a:t>• UART через bus → callback пользователя</a:t>
            </a:r>
          </a:p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1A1F2E"/>
                </a:solidFill>
                <a:latin typeface="Calibri"/>
              </a:rPr>
              <a:t>• Соединяем CPU + периферию</a:t>
            </a:r>
          </a:p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1A1F2E"/>
                </a:solidFill>
                <a:latin typeface="Calibri"/>
              </a:rPr>
              <a:t>• Это и есть «прошивка работает»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4652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A5A5A"/>
                </a:solidFill>
                <a:latin typeface="Consolas"/>
              </a:rPr>
              <a:t>Тесты · что проверяем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6446520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5A5A5A"/>
                </a:solidFill>
                <a:latin typeface="Consolas"/>
              </a:rPr>
              <a:t>23 / 34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F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0"/>
            <a:ext cx="7315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FB300"/>
                </a:solidFill>
                <a:latin typeface="Consolas"/>
              </a:rPr>
              <a:t>РАЗДЕЛ 05 / 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468880"/>
            <a:ext cx="10972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5F1E8"/>
                </a:solidFill>
                <a:latin typeface="Consolas"/>
              </a:rPr>
              <a:t>Как пользоваться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572000"/>
            <a:ext cx="100584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 i="1">
                <a:solidFill>
                  <a:srgbClr val="ECE7DB"/>
                </a:solidFill>
                <a:latin typeface="Calibri"/>
              </a:rPr>
              <a:t>Сборка, запуск, демо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D69700"/>
                </a:solidFill>
                <a:latin typeface="Consolas"/>
              </a:rPr>
              <a:t>Сборка хоста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1A1F2E"/>
                </a:solidFill>
                <a:latin typeface="Consolas"/>
              </a:rPr>
              <a:t>Запуск за минуту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55448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1">
                <a:solidFill>
                  <a:srgbClr val="1A1F2E"/>
                </a:solidFill>
                <a:latin typeface="Calibri"/>
              </a:rPr>
              <a:t>Симулятор собирается как обычная C-программа на Linux или macOS.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2240280"/>
            <a:ext cx="11155680" cy="3200400"/>
          </a:xfrm>
          <a:prstGeom prst="rect">
            <a:avLst/>
          </a:prstGeom>
          <a:solidFill>
            <a:srgbClr val="1A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377440"/>
            <a:ext cx="10789920" cy="2926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5F1E8"/>
                </a:solidFill>
                <a:latin typeface="Consolas"/>
              </a:rPr>
              <a:t>$ cd src</a:t>
            </a:r>
          </a:p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5F1E8"/>
                </a:solidFill>
                <a:latin typeface="Consolas"/>
              </a:rPr>
              <a:t>$ make                 # CC=clang, -std=c11, -Wall -Wextra -Wpedantic</a:t>
            </a:r>
          </a:p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5F1E8"/>
                </a:solidFill>
                <a:latin typeface="Consolas"/>
              </a:rPr>
              <a:t>$ ./stm32sim           # интерактивный CLI</a:t>
            </a:r>
          </a:p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5F1E8"/>
                </a:solidFill>
                <a:latin typeface="Consolas"/>
              </a:rPr>
              <a:t>$ ./stm32sim fw.bin    # сразу с прошивкой</a:t>
            </a:r>
          </a:p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5F1E8"/>
                </a:solidFill>
                <a:latin typeface="Consolas"/>
              </a:rPr>
              <a:t>$ ./stm32sim fw.bin --gdb 4444   # GDB-сервер на порту 4444</a:t>
            </a:r>
          </a:p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5F1E8"/>
                </a:solidFill>
                <a:latin typeface="Consolas"/>
              </a:rPr>
              <a:t>$ make test            # собрать и запустить test_runner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5532120"/>
            <a:ext cx="112471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1A1F2E"/>
                </a:solidFill>
                <a:latin typeface="Calibri"/>
              </a:rPr>
              <a:t>В Makefile нет санитайзеров — это сознательно: тестам важнее воспроизводимость, чем диагностика памяти. ASAN можно включить руками через CFLAGS.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4652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A5A5A"/>
                </a:solidFill>
                <a:latin typeface="Consolas"/>
              </a:rPr>
              <a:t>Сборка хоста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46520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5A5A5A"/>
                </a:solidFill>
                <a:latin typeface="Consolas"/>
              </a:rPr>
              <a:t>25 / 34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D69700"/>
                </a:solidFill>
                <a:latin typeface="Consolas"/>
              </a:rPr>
              <a:t>Сборка прошивки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1A1F2E"/>
                </a:solidFill>
                <a:latin typeface="Consolas"/>
              </a:rPr>
              <a:t>Своя прошивка для симулятора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55448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1">
                <a:solidFill>
                  <a:srgbClr val="1A1F2E"/>
                </a:solidFill>
                <a:latin typeface="Calibri"/>
              </a:rPr>
              <a:t>Пример из examples/ собирается обычным arm-none-eabi-gcc — как для настоящего STM32.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2240280"/>
            <a:ext cx="11155680" cy="3200400"/>
          </a:xfrm>
          <a:prstGeom prst="rect">
            <a:avLst/>
          </a:prstGeom>
          <a:solidFill>
            <a:srgbClr val="1A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377440"/>
            <a:ext cx="10789920" cy="2926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5F1E8"/>
                </a:solidFill>
                <a:latin typeface="Consolas"/>
              </a:rPr>
              <a:t>$ cd examples</a:t>
            </a:r>
          </a:p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5F1E8"/>
                </a:solidFill>
                <a:latin typeface="Consolas"/>
              </a:rPr>
              <a:t>$ make                              # → firmware.elf, firmware.bin</a:t>
            </a:r>
          </a:p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5F1E8"/>
                </a:solidFill>
                <a:latin typeface="Consolas"/>
              </a:rPr>
              <a:t># CFLAGS = -mcpu=cortex-m3 -mthumb -nostdlib -ffreestanding -O0 -g</a:t>
            </a:r>
          </a:p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5F1E8"/>
                </a:solidFill>
                <a:latin typeface="Consolas"/>
              </a:rPr>
              <a:t># LDFLAGS = -T link.ld -nostdlib -nostartfiles</a:t>
            </a:r>
          </a:p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5F1E8"/>
                </a:solidFill>
                <a:latin typeface="Consolas"/>
              </a:rPr>
              <a:t>$ ../src/stm32sim firmware.bin      # запуск в симуляторе</a:t>
            </a:r>
          </a:p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5F1E8"/>
                </a:solidFill>
                <a:latin typeface="Consolas"/>
              </a:rPr>
              <a:t># или без gcc:</a:t>
            </a:r>
          </a:p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5F1E8"/>
                </a:solidFill>
                <a:latin typeface="Consolas"/>
              </a:rPr>
              <a:t>$ python3 gen_firmware.py           # мини-ассемблер Thumb на Python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5532120"/>
            <a:ext cx="112471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1A1F2E"/>
                </a:solidFill>
                <a:latin typeface="Calibri"/>
              </a:rPr>
              <a:t>В examples/ лежит реалистичная прошивка: vector table, RCC HSI→PLL, GPIOA PA5, USART1, SysTick и TIM2 c обработчиками. Хороший пример «как должно выглядеть».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4652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A5A5A"/>
                </a:solidFill>
                <a:latin typeface="Consolas"/>
              </a:rPr>
              <a:t>Сборка прошивки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46520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5A5A5A"/>
                </a:solidFill>
                <a:latin typeface="Consolas"/>
              </a:rPr>
              <a:t>26 / 34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D69700"/>
                </a:solidFill>
                <a:latin typeface="Consolas"/>
              </a:rPr>
              <a:t>Демо на защите · 2 минуты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A1F2E"/>
                </a:solidFill>
                <a:latin typeface="Consolas"/>
              </a:rPr>
              <a:t>Пошаговый сценарий, который не подведёт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2286000"/>
            <a:ext cx="2514600" cy="2377440"/>
          </a:xfrm>
          <a:prstGeom prst="rect">
            <a:avLst/>
          </a:prstGeom>
          <a:solidFill>
            <a:srgbClr val="1A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468880"/>
            <a:ext cx="2148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FB300"/>
                </a:solidFill>
                <a:latin typeface="Consola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880360"/>
            <a:ext cx="21488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 i="0">
                <a:solidFill>
                  <a:srgbClr val="F5F1E8"/>
                </a:solidFill>
                <a:latin typeface="Consolas"/>
              </a:rPr>
              <a:t>Сборка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611880"/>
            <a:ext cx="21488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ECE7DB"/>
                </a:solidFill>
                <a:latin typeface="Calibri"/>
              </a:rPr>
              <a:t>make в src/ и examples/. Покажите zero warnings.</a:t>
            </a:r>
          </a:p>
        </p:txBody>
      </p:sp>
      <p:sp>
        <p:nvSpPr>
          <p:cNvPr id="9" name="Right Triangle 8"/>
          <p:cNvSpPr/>
          <p:nvPr/>
        </p:nvSpPr>
        <p:spPr>
          <a:xfrm>
            <a:off x="3063240" y="3246120"/>
            <a:ext cx="274320" cy="457200"/>
          </a:xfrm>
          <a:prstGeom prst="rtTriangle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83280" y="2286000"/>
            <a:ext cx="2514600" cy="2377440"/>
          </a:xfrm>
          <a:prstGeom prst="rect">
            <a:avLst/>
          </a:prstGeom>
          <a:solidFill>
            <a:srgbClr val="1A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6160" y="2468880"/>
            <a:ext cx="2148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FB300"/>
                </a:solidFill>
                <a:latin typeface="Consola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2880360"/>
            <a:ext cx="21488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 i="0">
                <a:solidFill>
                  <a:srgbClr val="F5F1E8"/>
                </a:solidFill>
                <a:latin typeface="Consolas"/>
              </a:rPr>
              <a:t>CLI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3611880"/>
            <a:ext cx="21488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ECE7DB"/>
                </a:solidFill>
                <a:latin typeface="Calibri"/>
              </a:rPr>
              <a:t>load fw.bin, step 5, reg, mem 0x20000000.</a:t>
            </a:r>
          </a:p>
        </p:txBody>
      </p:sp>
      <p:sp>
        <p:nvSpPr>
          <p:cNvPr id="14" name="Right Triangle 13"/>
          <p:cNvSpPr/>
          <p:nvPr/>
        </p:nvSpPr>
        <p:spPr>
          <a:xfrm>
            <a:off x="5943600" y="3246120"/>
            <a:ext cx="274320" cy="457200"/>
          </a:xfrm>
          <a:prstGeom prst="rtTriangle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63640" y="2286000"/>
            <a:ext cx="2514600" cy="2377440"/>
          </a:xfrm>
          <a:prstGeom prst="rect">
            <a:avLst/>
          </a:prstGeom>
          <a:solidFill>
            <a:srgbClr val="1A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2468880"/>
            <a:ext cx="2148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FB300"/>
                </a:solidFill>
                <a:latin typeface="Consola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2880360"/>
            <a:ext cx="21488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 i="0">
                <a:solidFill>
                  <a:srgbClr val="F5F1E8"/>
                </a:solidFill>
                <a:latin typeface="Consolas"/>
              </a:rPr>
              <a:t>UART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3611880"/>
            <a:ext cx="21488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ECE7DB"/>
                </a:solidFill>
                <a:latin typeface="Calibri"/>
              </a:rPr>
              <a:t>diagram-save: SVG c байтами на линии.</a:t>
            </a:r>
          </a:p>
        </p:txBody>
      </p:sp>
      <p:sp>
        <p:nvSpPr>
          <p:cNvPr id="19" name="Right Triangle 18"/>
          <p:cNvSpPr/>
          <p:nvPr/>
        </p:nvSpPr>
        <p:spPr>
          <a:xfrm>
            <a:off x="8823960" y="3246120"/>
            <a:ext cx="274320" cy="457200"/>
          </a:xfrm>
          <a:prstGeom prst="rtTriangle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144000" y="2286000"/>
            <a:ext cx="2514600" cy="2377440"/>
          </a:xfrm>
          <a:prstGeom prst="rect">
            <a:avLst/>
          </a:prstGeom>
          <a:solidFill>
            <a:srgbClr val="1A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0" y="2468880"/>
            <a:ext cx="2148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FB300"/>
                </a:solidFill>
                <a:latin typeface="Consolas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6880" y="2880360"/>
            <a:ext cx="21488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 i="0">
                <a:solidFill>
                  <a:srgbClr val="F5F1E8"/>
                </a:solidFill>
                <a:latin typeface="Consolas"/>
              </a:rPr>
              <a:t>GDB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26880" y="3611880"/>
            <a:ext cx="21488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ECE7DB"/>
                </a:solidFill>
                <a:latin typeface="Calibri"/>
              </a:rPr>
              <a:t>stm32sim --gdb · target remote · breakpoint.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5120640"/>
            <a:ext cx="112471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1">
                <a:solidFill>
                  <a:srgbClr val="1A1F2E"/>
                </a:solidFill>
                <a:latin typeface="Calibri"/>
              </a:rPr>
              <a:t>Если что-то не собирается на чужой машине — заранее запускаем make test и показываем зелёные галочки. Это сильнее любых слов о «корректности».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44652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A5A5A"/>
                </a:solidFill>
                <a:latin typeface="Consolas"/>
              </a:rPr>
              <a:t>Демо на защите · 2 минуты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0" y="6446520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5A5A5A"/>
                </a:solidFill>
                <a:latin typeface="Consolas"/>
              </a:rPr>
              <a:t>27 / 34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F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0"/>
            <a:ext cx="7315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FB300"/>
                </a:solidFill>
                <a:latin typeface="Consolas"/>
              </a:rPr>
              <a:t>РАЗДЕЛ 06 / 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468880"/>
            <a:ext cx="10972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5F1E8"/>
                </a:solidFill>
                <a:latin typeface="Consolas"/>
              </a:rPr>
              <a:t>Команда и итог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572000"/>
            <a:ext cx="100584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 i="1">
                <a:solidFill>
                  <a:srgbClr val="ECE7DB"/>
                </a:solidFill>
                <a:latin typeface="Calibri"/>
              </a:rPr>
              <a:t>Кто это сделал и что дальше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D69700"/>
                </a:solidFill>
                <a:latin typeface="Consolas"/>
              </a:rPr>
              <a:t>Распределение ролей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A1F2E"/>
                </a:solidFill>
                <a:latin typeface="Consolas"/>
              </a:rPr>
              <a:t>По шести областям — как в задании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874519"/>
            <a:ext cx="5349240" cy="4572000"/>
          </a:xfrm>
          <a:prstGeom prst="rect">
            <a:avLst/>
          </a:prstGeom>
          <a:solidFill>
            <a:srgbClr val="ECE7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355080" y="1874519"/>
            <a:ext cx="5349240" cy="4572000"/>
          </a:xfrm>
          <a:prstGeom prst="rect">
            <a:avLst/>
          </a:prstGeom>
          <a:solidFill>
            <a:srgbClr val="ECE7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011680"/>
            <a:ext cx="4800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B7A78"/>
                </a:solidFill>
                <a:latin typeface="Consolas"/>
              </a:rPr>
              <a:t>Кто что делал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606040"/>
            <a:ext cx="4800600" cy="3749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1A1F2E"/>
                </a:solidFill>
                <a:latin typeface="Calibri"/>
              </a:rPr>
              <a:t>• 1. Архитектор · ядро CPU</a:t>
            </a:r>
          </a:p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1A1F2E"/>
                </a:solidFill>
                <a:latin typeface="Calibri"/>
              </a:rPr>
              <a:t>• 2. Память и загрузка прошивки</a:t>
            </a:r>
          </a:p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1A1F2E"/>
                </a:solidFill>
                <a:latin typeface="Calibri"/>
              </a:rPr>
              <a:t>• 3. NVIC и обработчики</a:t>
            </a:r>
          </a:p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1A1F2E"/>
                </a:solidFill>
                <a:latin typeface="Calibri"/>
              </a:rPr>
              <a:t>• 4. Таймеры (TIM2, SysTick)</a:t>
            </a:r>
          </a:p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1A1F2E"/>
                </a:solidFill>
                <a:latin typeface="Calibri"/>
              </a:rPr>
              <a:t>• 5. UART и GPIO/RCC</a:t>
            </a:r>
          </a:p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1A1F2E"/>
                </a:solidFill>
                <a:latin typeface="Calibri"/>
              </a:rPr>
              <a:t>• 6. Тесты, сборка, документация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29400" y="2011680"/>
            <a:ext cx="4800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D69700"/>
                </a:solidFill>
                <a:latin typeface="Consolas"/>
              </a:rPr>
              <a:t>Этапы по семестру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29400" y="2606040"/>
            <a:ext cx="4800600" cy="3749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1A1F2E"/>
                </a:solidFill>
                <a:latin typeface="Calibri"/>
              </a:rPr>
              <a:t>• проект архитектуры</a:t>
            </a:r>
          </a:p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1A1F2E"/>
                </a:solidFill>
                <a:latin typeface="Calibri"/>
              </a:rPr>
              <a:t>• ядро + память + шина</a:t>
            </a:r>
          </a:p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1A1F2E"/>
                </a:solidFill>
                <a:latin typeface="Calibri"/>
              </a:rPr>
              <a:t>• NVIC + интеграция</a:t>
            </a:r>
          </a:p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1A1F2E"/>
                </a:solidFill>
                <a:latin typeface="Calibri"/>
              </a:rPr>
              <a:t>• периферия (TIM, UART, GPIO)</a:t>
            </a:r>
          </a:p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1A1F2E"/>
                </a:solidFill>
                <a:latin typeface="Calibri"/>
              </a:rPr>
              <a:t>• GDB + CLI + профилировщик</a:t>
            </a:r>
          </a:p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1A1F2E"/>
                </a:solidFill>
                <a:latin typeface="Calibri"/>
              </a:rPr>
              <a:t>• тесты, отчёт, защита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4652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A5A5A"/>
                </a:solidFill>
                <a:latin typeface="Consolas"/>
              </a:rPr>
              <a:t>Распределение ролей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6446520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5A5A5A"/>
                </a:solidFill>
                <a:latin typeface="Consolas"/>
              </a:rPr>
              <a:t>29 / 34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D69700"/>
                </a:solidFill>
                <a:latin typeface="Consolas"/>
              </a:rPr>
              <a:t>Что дальше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1A1F2E"/>
                </a:solidFill>
                <a:latin typeface="Consolas"/>
              </a:rPr>
              <a:t>Идея онлайн-лаборатории (только в документе docs/gateway.md)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554480"/>
            <a:ext cx="112471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1">
                <a:solidFill>
                  <a:srgbClr val="1A1F2E"/>
                </a:solidFill>
                <a:latin typeface="Calibri"/>
              </a:rPr>
              <a:t>В репозитории есть проектная заметка: распределённая система с очередью KeyDB, воркерами на Go и SSE для браузера. Это план развития, а не текущий код.</a:t>
            </a:r>
          </a:p>
        </p:txBody>
      </p:sp>
      <p:pic>
        <p:nvPicPr>
          <p:cNvPr id="6" name="Picture 5" descr="gatew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331720"/>
            <a:ext cx="4157785" cy="25603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4983479"/>
            <a:ext cx="1124712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1A1F2E"/>
                </a:solidFill>
                <a:latin typeface="Calibri"/>
              </a:rPr>
              <a:t>Сейчас результат — локальный симулятор с тестами и GDB. Распределённую оболочку можно собирать поверх него уже без переделки ядра.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A5A5A"/>
                </a:solidFill>
                <a:latin typeface="Consolas"/>
              </a:rPr>
              <a:t>Что дальше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46520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5A5A5A"/>
                </a:solidFill>
                <a:latin typeface="Consolas"/>
              </a:rPr>
              <a:t>30 / 34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D69700"/>
                </a:solidFill>
                <a:latin typeface="Consolas"/>
              </a:rPr>
              <a:t>Честный статус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A1F2E"/>
                </a:solidFill>
                <a:latin typeface="Consolas"/>
              </a:rPr>
              <a:t>Что есть и чего пока нет — без приукрашивания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874519"/>
            <a:ext cx="5349240" cy="4572000"/>
          </a:xfrm>
          <a:prstGeom prst="rect">
            <a:avLst/>
          </a:prstGeom>
          <a:solidFill>
            <a:srgbClr val="ECE7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355080" y="1874519"/>
            <a:ext cx="5349240" cy="4572000"/>
          </a:xfrm>
          <a:prstGeom prst="rect">
            <a:avLst/>
          </a:prstGeom>
          <a:solidFill>
            <a:srgbClr val="ECE7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011680"/>
            <a:ext cx="4800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B7A78"/>
                </a:solidFill>
                <a:latin typeface="Consolas"/>
              </a:rPr>
              <a:t>Сделано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606040"/>
            <a:ext cx="4800600" cy="3749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1A1F2E"/>
                </a:solidFill>
                <a:latin typeface="Calibri"/>
              </a:rPr>
              <a:t>• C11 без зависимостей</a:t>
            </a:r>
          </a:p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1A1F2E"/>
                </a:solidFill>
                <a:latin typeface="Calibri"/>
              </a:rPr>
              <a:t>• Cortex-M3 + Thumb-2 ядро</a:t>
            </a:r>
          </a:p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1A1F2E"/>
                </a:solidFill>
                <a:latin typeface="Calibri"/>
              </a:rPr>
              <a:t>• Шина, MMIO, прерывания, SysTick</a:t>
            </a:r>
          </a:p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1A1F2E"/>
                </a:solidFill>
                <a:latin typeface="Calibri"/>
              </a:rPr>
              <a:t>• GDB RSP + CLI + профилировщик</a:t>
            </a:r>
          </a:p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1A1F2E"/>
                </a:solidFill>
                <a:latin typeface="Calibri"/>
              </a:rPr>
              <a:t>• 11 тестов + интеграция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29400" y="2011680"/>
            <a:ext cx="4800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D69700"/>
                </a:solidFill>
                <a:latin typeface="Consolas"/>
              </a:rPr>
              <a:t>Не сделано (и это нормально)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29400" y="2606040"/>
            <a:ext cx="4800600" cy="3749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1A1F2E"/>
                </a:solidFill>
                <a:latin typeface="Calibri"/>
              </a:rPr>
              <a:t>• Полный набор периферии чипа</a:t>
            </a:r>
          </a:p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1A1F2E"/>
                </a:solidFill>
                <a:latin typeface="Calibri"/>
              </a:rPr>
              <a:t>• DMA, SPI/I2C, ADC</a:t>
            </a:r>
          </a:p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1A1F2E"/>
                </a:solidFill>
                <a:latin typeface="Calibri"/>
              </a:rPr>
              <a:t>• CI в репозитории</a:t>
            </a:r>
          </a:p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1A1F2E"/>
                </a:solidFill>
                <a:latin typeface="Calibri"/>
              </a:rPr>
              <a:t>• Онлайн-сервис из gateway.md</a:t>
            </a:r>
          </a:p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1A1F2E"/>
                </a:solidFill>
                <a:latin typeface="Calibri"/>
              </a:rPr>
              <a:t>• Идеальное соответствие тактам кремния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4652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A5A5A"/>
                </a:solidFill>
                <a:latin typeface="Consolas"/>
              </a:rPr>
              <a:t>Честный статус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6446520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5A5A5A"/>
                </a:solidFill>
                <a:latin typeface="Consolas"/>
              </a:rPr>
              <a:t>31 / 34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F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FB300"/>
                </a:solidFill>
                <a:latin typeface="Consolas"/>
              </a:rPr>
              <a:t>Главная мысль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828800"/>
            <a:ext cx="54864" cy="3383280"/>
          </a:xfrm>
          <a:prstGeom prst="rect">
            <a:avLst/>
          </a:prstGeom>
          <a:solidFill>
            <a:srgbClr val="FFB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515600" cy="3383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 i="0">
                <a:solidFill>
                  <a:srgbClr val="F5F1E8"/>
                </a:solidFill>
                <a:latin typeface="Consolas"/>
              </a:rPr>
              <a:t>Это не «эмуляция железа в реальном времени» — это детерминированная учебная модель, где каждое действие можно объяснить и повторить.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34924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1">
                <a:solidFill>
                  <a:srgbClr val="FFB300"/>
                </a:solidFill>
                <a:latin typeface="Calibri"/>
              </a:rPr>
              <a:t>— почему наш симулятор полезен на занятиях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ECE7DB"/>
                </a:solidFill>
                <a:latin typeface="Consolas"/>
              </a:rPr>
              <a:t>32 / 34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D69700"/>
                </a:solidFill>
                <a:latin typeface="Consolas"/>
              </a:rPr>
              <a:t>Команда (заполнить перед защитой)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109728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1A1F2E"/>
                </a:solidFill>
                <a:latin typeface="Consolas"/>
              </a:rPr>
              <a:t>Шесть человек — шесть зон ответственности.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468880"/>
            <a:ext cx="1124712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i="0">
                <a:solidFill>
                  <a:srgbClr val="1A1F2E"/>
                </a:solidFill>
                <a:latin typeface="Calibri"/>
              </a:rPr>
              <a:t>ФИО · группа · роль (1):  ____________________________________________</a:t>
            </a:r>
          </a:p>
          <a:p>
            <a:pPr algn="l">
              <a:lnSpc>
                <a:spcPct val="135000"/>
              </a:lnSpc>
            </a:pPr>
            <a:r>
              <a:rPr sz="2200" b="0" i="0">
                <a:solidFill>
                  <a:srgbClr val="1A1F2E"/>
                </a:solidFill>
                <a:latin typeface="Calibri"/>
              </a:rPr>
              <a:t>ФИО · группа · роль (2):  ____________________________________________</a:t>
            </a:r>
          </a:p>
          <a:p>
            <a:pPr algn="l">
              <a:lnSpc>
                <a:spcPct val="135000"/>
              </a:lnSpc>
            </a:pPr>
            <a:r>
              <a:rPr sz="2200" b="0" i="0">
                <a:solidFill>
                  <a:srgbClr val="1A1F2E"/>
                </a:solidFill>
                <a:latin typeface="Calibri"/>
              </a:rPr>
              <a:t>ФИО · группа · роль (3):  ____________________________________________</a:t>
            </a:r>
          </a:p>
          <a:p>
            <a:pPr algn="l">
              <a:lnSpc>
                <a:spcPct val="135000"/>
              </a:lnSpc>
            </a:pPr>
            <a:r>
              <a:rPr sz="2200" b="0" i="0">
                <a:solidFill>
                  <a:srgbClr val="1A1F2E"/>
                </a:solidFill>
                <a:latin typeface="Calibri"/>
              </a:rPr>
              <a:t>ФИО · группа · роль (4):  ____________________________________________</a:t>
            </a:r>
          </a:p>
          <a:p>
            <a:pPr algn="l">
              <a:lnSpc>
                <a:spcPct val="135000"/>
              </a:lnSpc>
            </a:pPr>
            <a:r>
              <a:rPr sz="2200" b="0" i="0">
                <a:solidFill>
                  <a:srgbClr val="1A1F2E"/>
                </a:solidFill>
                <a:latin typeface="Calibri"/>
              </a:rPr>
              <a:t>ФИО · группа · роль (5):  ____________________________________________</a:t>
            </a:r>
          </a:p>
          <a:p>
            <a:pPr algn="l">
              <a:lnSpc>
                <a:spcPct val="135000"/>
              </a:lnSpc>
            </a:pPr>
            <a:r>
              <a:rPr sz="2200" b="0" i="0">
                <a:solidFill>
                  <a:srgbClr val="1A1F2E"/>
                </a:solidFill>
                <a:latin typeface="Calibri"/>
              </a:rPr>
              <a:t>ФИО · группа · роль (6):  ____________________________________________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A5A5A"/>
                </a:solidFill>
                <a:latin typeface="Consolas"/>
              </a:rPr>
              <a:t>Команда (заполнить перед защитой)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5A5A5A"/>
                </a:solidFill>
                <a:latin typeface="Consolas"/>
              </a:rPr>
              <a:t>33 / 34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F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28600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400" b="1" i="0">
                <a:solidFill>
                  <a:srgbClr val="FFB300"/>
                </a:solidFill>
                <a:latin typeface="Consolas"/>
              </a:rPr>
              <a:t>Спасибо.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657600"/>
            <a:ext cx="10972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0" i="1">
                <a:solidFill>
                  <a:srgbClr val="F5F1E8"/>
                </a:solidFill>
                <a:latin typeface="Calibri"/>
              </a:rPr>
              <a:t>Готовы ответить на вопросы и показать симулятор в работе.</a:t>
            </a:r>
          </a:p>
        </p:txBody>
      </p:sp>
      <p:sp>
        <p:nvSpPr>
          <p:cNvPr id="4" name="Oval 3"/>
          <p:cNvSpPr/>
          <p:nvPr/>
        </p:nvSpPr>
        <p:spPr>
          <a:xfrm>
            <a:off x="566928" y="6053328"/>
            <a:ext cx="146304" cy="146304"/>
          </a:xfrm>
          <a:prstGeom prst="ellipse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95528" y="6053328"/>
            <a:ext cx="146304" cy="146304"/>
          </a:xfrm>
          <a:prstGeom prst="ellipse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" y="6053328"/>
            <a:ext cx="146304" cy="146304"/>
          </a:xfrm>
          <a:prstGeom prst="ellipse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252728" y="6053328"/>
            <a:ext cx="146304" cy="146304"/>
          </a:xfrm>
          <a:prstGeom prst="ellipse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1328" y="6053328"/>
            <a:ext cx="146304" cy="146304"/>
          </a:xfrm>
          <a:prstGeom prst="ellipse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709928" y="6053328"/>
            <a:ext cx="146304" cy="146304"/>
          </a:xfrm>
          <a:prstGeom prst="ellipse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