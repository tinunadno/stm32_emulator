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828800"/>
            <a:ext cx="164592" cy="22860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FFCB91"/>
                </a:solidFill>
                <a:latin typeface="Consolas"/>
              </a:rPr>
              <a:t>// embedded systems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106070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FFFFFF"/>
                </a:solidFill>
                <a:latin typeface="Cambria"/>
              </a:rPr>
              <a:t>Симулятор STM32F103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84048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C2D4EE"/>
                </a:solidFill>
                <a:latin typeface="Calibri"/>
              </a:rPr>
              <a:t>Курсовой проект · кафедра ВТ · ИТМО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4937760"/>
            <a:ext cx="548640" cy="36576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074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A95A8"/>
                </a:solidFill>
                <a:latin typeface="Consolas"/>
              </a:rPr>
              <a:t>C11 · ARM Cortex-M3 · GDB Remote Serial Protocol · 11 наборов тестов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09760" y="27432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4A556B"/>
                </a:solidFill>
                <a:latin typeface="Consolas"/>
              </a:rPr>
              <a:t>0x08000000  // entry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A556B"/>
                </a:solidFill>
                <a:latin typeface="Consolas"/>
              </a:rPr>
              <a:t>STM32F103 Simulator · ИТМО · ПрВС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4A556B"/>
                </a:solidFill>
                <a:latin typeface="Consolas"/>
              </a:rPr>
              <a:t>01 /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029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E1B32"/>
                </a:solidFill>
                <a:latin typeface="Cambria"/>
              </a:rPr>
              <a:t>Что это в одном кадре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640080" cy="45720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0E1B32"/>
                </a:solidFill>
                <a:latin typeface="Calibri"/>
              </a:rPr>
              <a:t>Программа на компьютере, которая ведёт себя как микроконтроллер STM32F103. Запускает прошивку, исполняет инструкции ARM Cortex-M3, моделирует таймер, UART и прерывания.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743200"/>
            <a:ext cx="3474719" cy="3383280"/>
          </a:xfrm>
          <a:prstGeom prst="rect">
            <a:avLst/>
          </a:prstGeom>
          <a:solidFill>
            <a:srgbClr val="E8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743200"/>
            <a:ext cx="45720" cy="3383280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3063240"/>
            <a:ext cx="868680" cy="868680"/>
          </a:xfrm>
          <a:prstGeom prst="ellipse">
            <a:avLst/>
          </a:prstGeom>
          <a:solidFill>
            <a:srgbClr val="0B1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108960"/>
            <a:ext cx="868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F2A65A"/>
                </a:solidFill>
                <a:latin typeface="Cambria"/>
              </a:rPr>
              <a:t>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069080"/>
            <a:ext cx="301751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E1B32"/>
                </a:solidFill>
                <a:latin typeface="Cambria"/>
              </a:rPr>
              <a:t>Симулятор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17720"/>
            <a:ext cx="3017519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4A556B"/>
                </a:solidFill>
                <a:latin typeface="Calibri"/>
              </a:rPr>
              <a:t>Чистый C11. Один поток. Детерминированное поведение: одинаковый вход — одинаковый результат.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399" y="2743200"/>
            <a:ext cx="3474719" cy="3383280"/>
          </a:xfrm>
          <a:prstGeom prst="rect">
            <a:avLst/>
          </a:prstGeom>
          <a:solidFill>
            <a:srgbClr val="E8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399" y="2743200"/>
            <a:ext cx="45720" cy="338328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63439" y="3063240"/>
            <a:ext cx="868680" cy="868680"/>
          </a:xfrm>
          <a:prstGeom prst="ellipse">
            <a:avLst/>
          </a:prstGeom>
          <a:solidFill>
            <a:srgbClr val="0B1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39" y="3108960"/>
            <a:ext cx="868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4EC9B0"/>
                </a:solidFill>
                <a:latin typeface="Cambria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19" y="4069080"/>
            <a:ext cx="301751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E1B32"/>
                </a:solidFill>
                <a:latin typeface="Cambria"/>
              </a:rPr>
              <a:t>Отладка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19" y="4617720"/>
            <a:ext cx="3017519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4A556B"/>
                </a:solidFill>
                <a:latin typeface="Calibri"/>
              </a:rPr>
              <a:t>Встроенный GDB-сервер по протоколу RSP, порт 3333. Подключаемся arm-none-eabi-gdb.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83879" y="2743200"/>
            <a:ext cx="3474719" cy="3383280"/>
          </a:xfrm>
          <a:prstGeom prst="rect">
            <a:avLst/>
          </a:prstGeom>
          <a:solidFill>
            <a:srgbClr val="E8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83879" y="2743200"/>
            <a:ext cx="45720" cy="3383280"/>
          </a:xfrm>
          <a:prstGeom prst="rect">
            <a:avLst/>
          </a:prstGeom>
          <a:solidFill>
            <a:srgbClr val="C2D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503919" y="3063240"/>
            <a:ext cx="868680" cy="868680"/>
          </a:xfrm>
          <a:prstGeom prst="ellipse">
            <a:avLst/>
          </a:prstGeom>
          <a:solidFill>
            <a:srgbClr val="0B1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19" y="3108960"/>
            <a:ext cx="868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C2D4EE"/>
                </a:solidFill>
                <a:latin typeface="Cambria"/>
              </a:rPr>
              <a:t>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4069080"/>
            <a:ext cx="301751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E1B32"/>
                </a:solidFill>
                <a:latin typeface="Cambria"/>
              </a:rPr>
              <a:t>Тесты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4617720"/>
            <a:ext cx="3017519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4A556B"/>
                </a:solidFill>
                <a:latin typeface="Calibri"/>
              </a:rPr>
              <a:t>11 наборов модульных и интеграционных тестов. Запуск: cd src &amp;&amp; make test.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09760" y="27432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4A556B"/>
                </a:solidFill>
                <a:latin typeface="Consolas"/>
              </a:rPr>
              <a:t>//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A556B"/>
                </a:solidFill>
                <a:latin typeface="Consolas"/>
              </a:rPr>
              <a:t>STM32F103 Simulator · ИТМО · ПрВС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4A556B"/>
                </a:solidFill>
                <a:latin typeface="Consolas"/>
              </a:rPr>
              <a:t>02 /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029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E1B32"/>
                </a:solidFill>
                <a:latin typeface="Cambria"/>
              </a:rPr>
              <a:t>Зачем это нужно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640080" cy="45720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0E1B32"/>
                </a:solidFill>
                <a:latin typeface="Calibri"/>
              </a:rPr>
              <a:t>Лабораторная работа на железе требует отдельной платы и времени. Симулятор даёт повторяемый сценарий с пошаговой отладкой и логом — без риска «сжечь» Blue Pill.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743200"/>
            <a:ext cx="11155680" cy="36576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>
                <a:solidFill>
                  <a:srgbClr val="F2A65A"/>
                </a:solidFill>
                <a:latin typeface="Consolas"/>
              </a:rPr>
              <a:t>■  </a:t>
            </a:r>
            <a:r>
              <a:rPr sz="1600">
                <a:solidFill>
                  <a:srgbClr val="0E1B32"/>
                </a:solidFill>
                <a:latin typeface="Calibri"/>
              </a:rPr>
              <a:t>Учёба: посмотреть, как взаимодействуют ядро, шина и периферия.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>
                <a:solidFill>
                  <a:srgbClr val="F2A65A"/>
                </a:solidFill>
                <a:latin typeface="Consolas"/>
              </a:rPr>
              <a:t>■  </a:t>
            </a:r>
            <a:r>
              <a:rPr sz="1600">
                <a:solidFill>
                  <a:srgbClr val="0E1B32"/>
                </a:solidFill>
                <a:latin typeface="Calibri"/>
              </a:rPr>
              <a:t>Демо на ноутбуке без подключения USB-программатора.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>
                <a:solidFill>
                  <a:srgbClr val="F2A65A"/>
                </a:solidFill>
                <a:latin typeface="Consolas"/>
              </a:rPr>
              <a:t>■  </a:t>
            </a:r>
            <a:r>
              <a:rPr sz="1600">
                <a:solidFill>
                  <a:srgbClr val="0E1B32"/>
                </a:solidFill>
                <a:latin typeface="Calibri"/>
              </a:rPr>
              <a:t>Воспроизводимая среда: одинаковая на macOS, Linux, Windows-WSL.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>
                <a:solidFill>
                  <a:srgbClr val="F2A65A"/>
                </a:solidFill>
                <a:latin typeface="Consolas"/>
              </a:rPr>
              <a:t>■  </a:t>
            </a:r>
            <a:r>
              <a:rPr sz="1600">
                <a:solidFill>
                  <a:srgbClr val="0E1B32"/>
                </a:solidFill>
                <a:latin typeface="Calibri"/>
              </a:rPr>
              <a:t>Отладка прошивки в attached-режиме через GDB как на железе.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>
                <a:solidFill>
                  <a:srgbClr val="F2A65A"/>
                </a:solidFill>
                <a:latin typeface="Consolas"/>
              </a:rPr>
              <a:t>■  </a:t>
            </a:r>
            <a:r>
              <a:rPr sz="1600">
                <a:solidFill>
                  <a:srgbClr val="0E1B32"/>
                </a:solidFill>
                <a:latin typeface="Calibri"/>
              </a:rPr>
              <a:t>Возможность подавать байты в UART прямо из CLI и смотреть реакцию.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09760" y="27432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4A556B"/>
                </a:solidFill>
                <a:latin typeface="Consolas"/>
              </a:rPr>
              <a:t>0x40000000  // mmio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A556B"/>
                </a:solidFill>
                <a:latin typeface="Consolas"/>
              </a:rPr>
              <a:t>STM32F103 Simulator · ИТМО · ПрВС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4A556B"/>
                </a:solidFill>
                <a:latin typeface="Consolas"/>
              </a:rPr>
              <a:t>03 /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029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E1B32"/>
                </a:solidFill>
                <a:latin typeface="Cambria"/>
              </a:rPr>
              <a:t>STM32F103C8T6 vs наш симулятор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640080" cy="45720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0E1B32"/>
                </a:solidFill>
                <a:latin typeface="Calibri"/>
              </a:rPr>
              <a:t>Реальная плата Blue Pill и наш программный двойник.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743200"/>
            <a:ext cx="2743200" cy="411480"/>
          </a:xfrm>
          <a:prstGeom prst="rect">
            <a:avLst/>
          </a:prstGeom>
          <a:solidFill>
            <a:srgbClr val="0B1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2816352"/>
            <a:ext cx="25603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mbria"/>
              </a:rPr>
              <a:t>Параметр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43200"/>
            <a:ext cx="4206240" cy="411480"/>
          </a:xfrm>
          <a:prstGeom prst="rect">
            <a:avLst/>
          </a:prstGeom>
          <a:solidFill>
            <a:srgbClr val="0B1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55848" y="2816352"/>
            <a:ext cx="402335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mbria"/>
              </a:rPr>
              <a:t>Реальный чип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59" y="2743200"/>
            <a:ext cx="4206240" cy="411480"/>
          </a:xfrm>
          <a:prstGeom prst="rect">
            <a:avLst/>
          </a:prstGeom>
          <a:solidFill>
            <a:srgbClr val="0B1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62087" y="2816352"/>
            <a:ext cx="402335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mbria"/>
              </a:rPr>
              <a:t>Наш симулятор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154680"/>
            <a:ext cx="11155680" cy="411480"/>
          </a:xfrm>
          <a:prstGeom prst="rect">
            <a:avLst/>
          </a:prstGeom>
          <a:solidFill>
            <a:srgbClr val="E8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3227832"/>
            <a:ext cx="25603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2A65A"/>
                </a:solidFill>
                <a:latin typeface="Consolas"/>
              </a:rPr>
              <a:t>Ядро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55848" y="3227832"/>
            <a:ext cx="402335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E1B32"/>
                </a:solidFill>
                <a:latin typeface="Calibri"/>
              </a:rPr>
              <a:t>Cortex-M3 @ 72 МГц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62087" y="3227832"/>
            <a:ext cx="402335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E1B32"/>
                </a:solidFill>
                <a:latin typeface="Calibri"/>
              </a:rPr>
              <a:t>Cortex-M3 (Thumb-2, без частоты)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566160"/>
            <a:ext cx="11155680" cy="411480"/>
          </a:xfrm>
          <a:prstGeom prst="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" y="3639312"/>
            <a:ext cx="25603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2A65A"/>
                </a:solidFill>
                <a:latin typeface="Consolas"/>
              </a:rPr>
              <a:t>Flash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55848" y="3639312"/>
            <a:ext cx="402335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E1B32"/>
                </a:solidFill>
                <a:latin typeface="Calibri"/>
              </a:rPr>
              <a:t>64 КБ @ 0x08000000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62087" y="3639312"/>
            <a:ext cx="402335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E1B32"/>
                </a:solidFill>
                <a:latin typeface="Calibri"/>
              </a:rPr>
              <a:t>64 КБ @ 0x08000000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977640"/>
            <a:ext cx="11155680" cy="411480"/>
          </a:xfrm>
          <a:prstGeom prst="rect">
            <a:avLst/>
          </a:prstGeom>
          <a:solidFill>
            <a:srgbClr val="E8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" y="4050792"/>
            <a:ext cx="25603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2A65A"/>
                </a:solidFill>
                <a:latin typeface="Consolas"/>
              </a:rPr>
              <a:t>SRAM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55848" y="4050792"/>
            <a:ext cx="402335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E1B32"/>
                </a:solidFill>
                <a:latin typeface="Calibri"/>
              </a:rPr>
              <a:t>20 КБ @ 0x20000000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62087" y="4050792"/>
            <a:ext cx="402335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E1B32"/>
                </a:solidFill>
                <a:latin typeface="Calibri"/>
              </a:rPr>
              <a:t>20 КБ @ 0x20000000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389120"/>
            <a:ext cx="11155680" cy="411480"/>
          </a:xfrm>
          <a:prstGeom prst="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" y="4462272"/>
            <a:ext cx="25603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2A65A"/>
                </a:solidFill>
                <a:latin typeface="Consolas"/>
              </a:rPr>
              <a:t>Прерывания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55848" y="4462272"/>
            <a:ext cx="402335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E1B32"/>
                </a:solidFill>
                <a:latin typeface="Calibri"/>
              </a:rPr>
              <a:t>до 60+ источников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62087" y="4462272"/>
            <a:ext cx="402335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E1B32"/>
                </a:solidFill>
                <a:latin typeface="Calibri"/>
              </a:rPr>
              <a:t>43 IRQ + SysTick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800600"/>
            <a:ext cx="11155680" cy="411480"/>
          </a:xfrm>
          <a:prstGeom prst="rect">
            <a:avLst/>
          </a:prstGeom>
          <a:solidFill>
            <a:srgbClr val="E8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8" y="4873752"/>
            <a:ext cx="25603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2A65A"/>
                </a:solidFill>
                <a:latin typeface="Consolas"/>
              </a:rPr>
              <a:t>TIM2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55848" y="4873752"/>
            <a:ext cx="402335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E1B32"/>
                </a:solidFill>
                <a:latin typeface="Calibri"/>
              </a:rPr>
              <a:t>регистры CR1/PSC/ARR/...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62087" y="4873752"/>
            <a:ext cx="402335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E1B32"/>
                </a:solidFill>
                <a:latin typeface="Calibri"/>
              </a:rPr>
              <a:t>CR1/DIER/SR/CNT/PSC/ARR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5212080"/>
            <a:ext cx="11155680" cy="411480"/>
          </a:xfrm>
          <a:prstGeom prst="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2648" y="5285232"/>
            <a:ext cx="25603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2A65A"/>
                </a:solidFill>
                <a:latin typeface="Consolas"/>
              </a:rPr>
              <a:t>USART1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55848" y="5285232"/>
            <a:ext cx="402335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E1B32"/>
                </a:solidFill>
                <a:latin typeface="Calibri"/>
              </a:rPr>
              <a:t>TX/RX/IRQ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62087" y="5285232"/>
            <a:ext cx="402335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E1B32"/>
                </a:solidFill>
                <a:latin typeface="Calibri"/>
              </a:rPr>
              <a:t>TX/RX/IRQ (упрощённо)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5623560"/>
            <a:ext cx="11155680" cy="411480"/>
          </a:xfrm>
          <a:prstGeom prst="rect">
            <a:avLst/>
          </a:prstGeom>
          <a:solidFill>
            <a:srgbClr val="E8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2648" y="5696712"/>
            <a:ext cx="25603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2A65A"/>
                </a:solidFill>
                <a:latin typeface="Consolas"/>
              </a:rPr>
              <a:t>GPIO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55848" y="5696712"/>
            <a:ext cx="402335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E1B32"/>
                </a:solidFill>
                <a:latin typeface="Calibri"/>
              </a:rPr>
              <a:t>5 портов A–E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62087" y="5696712"/>
            <a:ext cx="402335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E1B32"/>
                </a:solidFill>
                <a:latin typeface="Calibri"/>
              </a:rPr>
              <a:t>5 портов A–E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6035040"/>
            <a:ext cx="11155680" cy="411480"/>
          </a:xfrm>
          <a:prstGeom prst="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2648" y="6108192"/>
            <a:ext cx="25603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2A65A"/>
                </a:solidFill>
                <a:latin typeface="Consolas"/>
              </a:rPr>
              <a:t>Отладка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55848" y="6108192"/>
            <a:ext cx="402335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E1B32"/>
                </a:solidFill>
                <a:latin typeface="Calibri"/>
              </a:rPr>
              <a:t>SWD/JTAG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62087" y="6108192"/>
            <a:ext cx="402335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E1B32"/>
                </a:solidFill>
                <a:latin typeface="Calibri"/>
              </a:rPr>
              <a:t>GDB RSP по TCP, порт 3333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09760" y="27432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4A556B"/>
                </a:solidFill>
                <a:latin typeface="Consolas"/>
              </a:rPr>
              <a:t>// README §8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A556B"/>
                </a:solidFill>
                <a:latin typeface="Consolas"/>
              </a:rPr>
              <a:t>STM32F103 Simulator · ИТМО · ПрВС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4A556B"/>
                </a:solidFill>
                <a:latin typeface="Consolas"/>
              </a:rPr>
              <a:t>04 /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029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E1B32"/>
                </a:solidFill>
                <a:latin typeface="Cambria"/>
              </a:rPr>
              <a:t>Что просило ТЗ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640080" cy="45720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0E1B32"/>
                </a:solidFill>
                <a:latin typeface="Calibri"/>
              </a:rPr>
              <a:t>Из README.md: групповой проект до 6 человек. Симулятор должен иметь ядро, память, NVIC, таймер, UART и систему тестирования.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834640"/>
            <a:ext cx="4572000" cy="3291840"/>
          </a:xfrm>
          <a:prstGeom prst="rect">
            <a:avLst/>
          </a:prstGeom>
          <a:solidFill>
            <a:srgbClr val="0B1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CB91"/>
                </a:solidFill>
                <a:latin typeface="Consolas"/>
              </a:rPr>
              <a:t>// stat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46120"/>
            <a:ext cx="429768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0" b="1" i="0">
                <a:solidFill>
                  <a:srgbClr val="F2A65A"/>
                </a:solidFill>
                <a:latin typeface="Cambria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532120"/>
            <a:ext cx="4297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C2D4EE"/>
                </a:solidFill>
                <a:latin typeface="Calibri"/>
              </a:rPr>
              <a:t>человек в команде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2834640"/>
            <a:ext cx="6400800" cy="36576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>
                <a:solidFill>
                  <a:srgbClr val="F2A65A"/>
                </a:solidFill>
                <a:latin typeface="Consolas"/>
              </a:rPr>
              <a:t>■  </a:t>
            </a:r>
            <a:r>
              <a:rPr sz="1600">
                <a:solidFill>
                  <a:srgbClr val="0E1B32"/>
                </a:solidFill>
                <a:latin typeface="Calibri"/>
              </a:rPr>
              <a:t>Архитектор / разработчик ядра CPU.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>
                <a:solidFill>
                  <a:srgbClr val="F2A65A"/>
                </a:solidFill>
                <a:latin typeface="Consolas"/>
              </a:rPr>
              <a:t>■  </a:t>
            </a:r>
            <a:r>
              <a:rPr sz="1600">
                <a:solidFill>
                  <a:srgbClr val="0E1B32"/>
                </a:solidFill>
                <a:latin typeface="Calibri"/>
              </a:rPr>
              <a:t>Память и загрузка прошивки.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>
                <a:solidFill>
                  <a:srgbClr val="F2A65A"/>
                </a:solidFill>
                <a:latin typeface="Consolas"/>
              </a:rPr>
              <a:t>■  </a:t>
            </a:r>
            <a:r>
              <a:rPr sz="1600">
                <a:solidFill>
                  <a:srgbClr val="0E1B32"/>
                </a:solidFill>
                <a:latin typeface="Calibri"/>
              </a:rPr>
              <a:t>NVIC и обработка прерываний.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>
                <a:solidFill>
                  <a:srgbClr val="F2A65A"/>
                </a:solidFill>
                <a:latin typeface="Consolas"/>
              </a:rPr>
              <a:t>■  </a:t>
            </a:r>
            <a:r>
              <a:rPr sz="1600">
                <a:solidFill>
                  <a:srgbClr val="0E1B32"/>
                </a:solidFill>
                <a:latin typeface="Calibri"/>
              </a:rPr>
              <a:t>Таймер.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>
                <a:solidFill>
                  <a:srgbClr val="F2A65A"/>
                </a:solidFill>
                <a:latin typeface="Consolas"/>
              </a:rPr>
              <a:t>■  </a:t>
            </a:r>
            <a:r>
              <a:rPr sz="1600">
                <a:solidFill>
                  <a:srgbClr val="0E1B32"/>
                </a:solidFill>
                <a:latin typeface="Calibri"/>
              </a:rPr>
              <a:t>UART и взаимодействие с консолью.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>
                <a:solidFill>
                  <a:srgbClr val="F2A65A"/>
                </a:solidFill>
                <a:latin typeface="Consolas"/>
              </a:rPr>
              <a:t>■  </a:t>
            </a:r>
            <a:r>
              <a:rPr sz="1600">
                <a:solidFill>
                  <a:srgbClr val="0E1B32"/>
                </a:solidFill>
                <a:latin typeface="Calibri"/>
              </a:rPr>
              <a:t>Инженер по тестированию и сборке.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09760" y="27432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4A556B"/>
                </a:solidFill>
                <a:latin typeface="Consolas"/>
              </a:rPr>
              <a:t>// toolchain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A556B"/>
                </a:solidFill>
                <a:latin typeface="Consolas"/>
              </a:rPr>
              <a:t>STM32F103 Simulator · ИТМО · ПрВС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4A556B"/>
                </a:solidFill>
                <a:latin typeface="Consolas"/>
              </a:rPr>
              <a:t>05 /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029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E1B32"/>
                </a:solidFill>
                <a:latin typeface="Cambria"/>
              </a:rPr>
              <a:t>Технологический стек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640080" cy="45720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0E1B32"/>
                </a:solidFill>
                <a:latin typeface="Calibri"/>
              </a:rPr>
              <a:t>Намеренно простой: чистый C, минимум зависимостей, всё собирается одной командой make.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743200"/>
            <a:ext cx="36576" cy="347472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7432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E1B32"/>
                </a:solidFill>
                <a:latin typeface="Cambria"/>
              </a:rPr>
              <a:t>Симулятор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200400"/>
            <a:ext cx="5029200" cy="31089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>
                <a:solidFill>
                  <a:srgbClr val="4EC9B0"/>
                </a:solidFill>
                <a:latin typeface="Consolas"/>
              </a:rPr>
              <a:t>■  </a:t>
            </a:r>
            <a:r>
              <a:rPr sz="1400">
                <a:solidFill>
                  <a:srgbClr val="0E1B32"/>
                </a:solidFill>
                <a:latin typeface="Calibri"/>
              </a:rPr>
              <a:t>Язык: C11, gcc/clang.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>
                <a:solidFill>
                  <a:srgbClr val="4EC9B0"/>
                </a:solidFill>
                <a:latin typeface="Consolas"/>
              </a:rPr>
              <a:t>■  </a:t>
            </a:r>
            <a:r>
              <a:rPr sz="1400">
                <a:solidFill>
                  <a:srgbClr val="0E1B32"/>
                </a:solidFill>
                <a:latin typeface="Calibri"/>
              </a:rPr>
              <a:t>Сборка: GNU Make.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>
                <a:solidFill>
                  <a:srgbClr val="4EC9B0"/>
                </a:solidFill>
                <a:latin typeface="Consolas"/>
              </a:rPr>
              <a:t>■  </a:t>
            </a:r>
            <a:r>
              <a:rPr sz="1400">
                <a:solidFill>
                  <a:srgbClr val="0E1B32"/>
                </a:solidFill>
                <a:latin typeface="Calibri"/>
              </a:rPr>
              <a:t>Зависимости: только стандартная C-библиотека.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>
                <a:solidFill>
                  <a:srgbClr val="4EC9B0"/>
                </a:solidFill>
                <a:latin typeface="Consolas"/>
              </a:rPr>
              <a:t>■  </a:t>
            </a:r>
            <a:r>
              <a:rPr sz="1400">
                <a:solidFill>
                  <a:srgbClr val="0E1B32"/>
                </a:solidFill>
                <a:latin typeface="Calibri"/>
              </a:rPr>
              <a:t>TCP-сервер для GDB через POSIX sockets.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2743200"/>
            <a:ext cx="36576" cy="3474720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74320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E1B32"/>
                </a:solidFill>
                <a:latin typeface="Cambria"/>
              </a:rPr>
              <a:t>Прошивка-пример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3200400"/>
            <a:ext cx="5212080" cy="31089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>
                <a:solidFill>
                  <a:srgbClr val="F2A65A"/>
                </a:solidFill>
                <a:latin typeface="Consolas"/>
              </a:rPr>
              <a:t>■  </a:t>
            </a:r>
            <a:r>
              <a:rPr sz="1400">
                <a:solidFill>
                  <a:srgbClr val="0E1B32"/>
                </a:solidFill>
                <a:latin typeface="Calibri"/>
              </a:rPr>
              <a:t>Кросс-компилятор arm-none-eabi-gcc.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>
                <a:solidFill>
                  <a:srgbClr val="F2A65A"/>
                </a:solidFill>
                <a:latin typeface="Consolas"/>
              </a:rPr>
              <a:t>■  </a:t>
            </a:r>
            <a:r>
              <a:rPr sz="1400">
                <a:solidFill>
                  <a:srgbClr val="0E1B32"/>
                </a:solidFill>
                <a:latin typeface="Calibri"/>
              </a:rPr>
              <a:t>Свой linker script (link.ld) под адреса 0x08000000 / 0x20000000.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>
                <a:solidFill>
                  <a:srgbClr val="F2A65A"/>
                </a:solidFill>
                <a:latin typeface="Consolas"/>
              </a:rPr>
              <a:t>■  </a:t>
            </a:r>
            <a:r>
              <a:rPr sz="1400">
                <a:solidFill>
                  <a:srgbClr val="0E1B32"/>
                </a:solidFill>
                <a:latin typeface="Calibri"/>
              </a:rPr>
              <a:t>Стартап на C: Reset_Handler + vector_table.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>
                <a:solidFill>
                  <a:srgbClr val="F2A65A"/>
                </a:solidFill>
                <a:latin typeface="Consolas"/>
              </a:rPr>
              <a:t>■  </a:t>
            </a:r>
            <a:r>
              <a:rPr sz="1400">
                <a:solidFill>
                  <a:srgbClr val="0E1B32"/>
                </a:solidFill>
                <a:latin typeface="Calibri"/>
              </a:rPr>
              <a:t>objcopy → firmware.bin для загрузки в симулятор.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377440"/>
            <a:ext cx="27432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0" b="1" i="0">
                <a:solidFill>
                  <a:srgbClr val="F2A65A"/>
                </a:solidFill>
                <a:latin typeface="Cambria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274320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4EC9B0"/>
                </a:solidFill>
                <a:latin typeface="Consolas"/>
              </a:rPr>
              <a:t>// 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0" y="3108960"/>
            <a:ext cx="73152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Cambria"/>
              </a:rPr>
              <a:t>Архитектура симулятора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40" y="5120640"/>
            <a:ext cx="1371600" cy="36576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A95A8"/>
                </a:solidFill>
                <a:latin typeface="Consolas"/>
              </a:rPr>
              <a:t>06 / 40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09760" y="27432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4A556B"/>
                </a:solidFill>
                <a:latin typeface="Consolas"/>
              </a:rPr>
              <a:t>// docs/architecture.svg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A556B"/>
                </a:solidFill>
                <a:latin typeface="Consolas"/>
              </a:rPr>
              <a:t>STM32F103 Simulator · ИТМО · ПрВС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4A556B"/>
                </a:solidFill>
                <a:latin typeface="Consolas"/>
              </a:rPr>
              <a:t>07 /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029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E1B32"/>
                </a:solidFill>
                <a:latin typeface="Cambria"/>
              </a:rPr>
              <a:t>Общая схема (architecture.svg)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640080" cy="45720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0E1B32"/>
                </a:solidFill>
                <a:latin typeface="Calibri"/>
              </a:rPr>
              <a:t>Ядро исполняет инструкции и обращается к шине. Шина по адресу решает, куда направить запрос: Flash, SRAM или периферия. NVIC принимает запросы прерываний.</a:t>
            </a:r>
          </a:p>
        </p:txBody>
      </p:sp>
      <p:pic>
        <p:nvPicPr>
          <p:cNvPr id="9" name="Picture 8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697480"/>
            <a:ext cx="6904653" cy="3383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594360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4A556B"/>
                </a:solidFill>
                <a:latin typeface="Calibri"/>
              </a:rPr>
              <a:t>Стрелки — направление данных. Все обращения от ядра — только через шину; периферия не знает о ядре напрямую.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09760" y="27432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4A556B"/>
                </a:solidFill>
                <a:latin typeface="Consolas"/>
              </a:rPr>
              <a:t>// src/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A556B"/>
                </a:solidFill>
                <a:latin typeface="Consolas"/>
              </a:rPr>
              <a:t>STM32F103 Simulator · ИТМО · ПрВС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4A556B"/>
                </a:solidFill>
                <a:latin typeface="Consolas"/>
              </a:rPr>
              <a:t>08 /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029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E1B32"/>
                </a:solidFill>
                <a:latin typeface="Cambria"/>
              </a:rPr>
              <a:t>Модули каталога src/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640080" cy="45720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0E1B32"/>
                </a:solidFill>
                <a:latin typeface="Calibri"/>
              </a:rPr>
              <a:t>Каждая папка — изолированный модуль с публичным заголовком (.h) и реализацией (.c). Нижний слой — периферия и отладка, средний — шина и память, вверху — ядро.</a:t>
            </a:r>
          </a:p>
        </p:txBody>
      </p:sp>
      <p:pic>
        <p:nvPicPr>
          <p:cNvPr id="9" name="Picture 8" descr="mod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697480"/>
            <a:ext cx="5153124" cy="3200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594360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4A556B"/>
                </a:solidFill>
                <a:latin typeface="Calibri"/>
              </a:rPr>
              <a:t>Связи направлены сверху вниз: симулятор оркестрирует, ядро говорит с шиной, шина — с устройствами.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09760" y="27432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4A556B"/>
                </a:solidFill>
                <a:latin typeface="Consolas"/>
              </a:rPr>
              <a:t>0x08000000 / 0x20000000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A556B"/>
                </a:solidFill>
                <a:latin typeface="Consolas"/>
              </a:rPr>
              <a:t>STM32F103 Simulator · ИТМО · ПрВС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4A556B"/>
                </a:solidFill>
                <a:latin typeface="Consolas"/>
              </a:rPr>
              <a:t>09 /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029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E1B32"/>
                </a:solidFill>
                <a:latin typeface="Cambria"/>
              </a:rPr>
              <a:t>Карта памяти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640080" cy="45720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0E1B32"/>
                </a:solidFill>
                <a:latin typeface="Calibri"/>
              </a:rPr>
              <a:t>Те же адреса, что в datasheet STM32F103: прошивка обращается к регистрам так же, как на железе.</a:t>
            </a:r>
          </a:p>
        </p:txBody>
      </p:sp>
      <p:pic>
        <p:nvPicPr>
          <p:cNvPr id="9" name="Picture 8" descr="memory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697480"/>
            <a:ext cx="8980673" cy="2926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594360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4A556B"/>
                </a:solidFill>
                <a:latin typeface="Calibri"/>
              </a:rPr>
              <a:t>Адрес 0x00000000 — алиас Flash для чтения вектор-таблицы. Регистры периферии живут с 0x40000000.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09760" y="27432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4A556B"/>
                </a:solidFill>
                <a:latin typeface="Consolas"/>
              </a:rPr>
              <a:t>core_reset()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A556B"/>
                </a:solidFill>
                <a:latin typeface="Consolas"/>
              </a:rPr>
              <a:t>STM32F103 Simulator · ИТМО · ПрВС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4A556B"/>
                </a:solidFill>
                <a:latin typeface="Consolas"/>
              </a:rPr>
              <a:t>10 /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029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E1B32"/>
                </a:solidFill>
                <a:latin typeface="Cambria"/>
              </a:rPr>
              <a:t>Что происходит после reset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640080" cy="45720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0E1B32"/>
                </a:solidFill>
                <a:latin typeface="Calibri"/>
              </a:rPr>
              <a:t>В Cortex-M3 первые два слова Flash — это начальное значение SP и адрес Reset_Handler. Симулятор в core_reset загружает их через шину.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834640"/>
            <a:ext cx="4572000" cy="3291840"/>
          </a:xfrm>
          <a:prstGeom prst="rect">
            <a:avLst/>
          </a:prstGeom>
          <a:solidFill>
            <a:srgbClr val="0B1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CB91"/>
                </a:solidFill>
                <a:latin typeface="Consolas"/>
              </a:rPr>
              <a:t>// stat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46120"/>
            <a:ext cx="429768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0" b="1" i="0">
                <a:solidFill>
                  <a:srgbClr val="F2A65A"/>
                </a:solidFill>
                <a:latin typeface="Cambria"/>
              </a:rPr>
              <a:t>0x00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532120"/>
            <a:ext cx="4297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C2D4EE"/>
                </a:solidFill>
                <a:latin typeface="Calibri"/>
              </a:rPr>
              <a:t>первое слово → SP, второе слово (0x04) → PC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2834640"/>
            <a:ext cx="6400800" cy="36576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>
                <a:solidFill>
                  <a:srgbClr val="F2A65A"/>
                </a:solidFill>
                <a:latin typeface="Consolas"/>
              </a:rPr>
              <a:t>■  </a:t>
            </a:r>
            <a:r>
              <a:rPr sz="1600">
                <a:solidFill>
                  <a:srgbClr val="0E1B32"/>
                </a:solidFill>
                <a:latin typeface="Calibri"/>
              </a:rPr>
              <a:t>SP ← bus_read(0x00000000, 4).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>
                <a:solidFill>
                  <a:srgbClr val="F2A65A"/>
                </a:solidFill>
                <a:latin typeface="Consolas"/>
              </a:rPr>
              <a:t>■  </a:t>
            </a:r>
            <a:r>
              <a:rPr sz="1600">
                <a:solidFill>
                  <a:srgbClr val="0E1B32"/>
                </a:solidFill>
                <a:latin typeface="Calibri"/>
              </a:rPr>
              <a:t>PC ← bus_read(0x00000004, 4) &amp; ~1 (сбрасываем Thumb-бит).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>
                <a:solidFill>
                  <a:srgbClr val="F2A65A"/>
                </a:solidFill>
                <a:latin typeface="Consolas"/>
              </a:rPr>
              <a:t>■  </a:t>
            </a:r>
            <a:r>
              <a:rPr sz="1600">
                <a:solidFill>
                  <a:srgbClr val="0E1B32"/>
                </a:solidFill>
                <a:latin typeface="Calibri"/>
              </a:rPr>
              <a:t>Сохраняются указатели bus и nvic, остальное обнуляется.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>
                <a:solidFill>
                  <a:srgbClr val="F2A65A"/>
                </a:solidFill>
                <a:latin typeface="Consolas"/>
              </a:rPr>
              <a:t>■  </a:t>
            </a:r>
            <a:r>
              <a:rPr sz="1600">
                <a:solidFill>
                  <a:srgbClr val="0E1B32"/>
                </a:solidFill>
                <a:latin typeface="Calibri"/>
              </a:rPr>
              <a:t>После — full reset: NVIC, память, очередь событий, профайлер.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>
                <a:solidFill>
                  <a:srgbClr val="F2A65A"/>
                </a:solidFill>
                <a:latin typeface="Consolas"/>
              </a:rPr>
              <a:t>■  </a:t>
            </a:r>
            <a:r>
              <a:rPr sz="1600">
                <a:solidFill>
                  <a:srgbClr val="0E1B32"/>
                </a:solidFill>
                <a:latin typeface="Calibri"/>
              </a:rPr>
              <a:t>Если PC указывает не во Flash — будет bus fault (это диагностика).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09760" y="27432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4A556B"/>
                </a:solidFill>
                <a:latin typeface="Consolas"/>
              </a:rPr>
              <a:t>simulator_step()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A556B"/>
                </a:solidFill>
                <a:latin typeface="Consolas"/>
              </a:rPr>
              <a:t>STM32F103 Simulator · ИТМО · ПрВС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4A556B"/>
                </a:solidFill>
                <a:latin typeface="Consolas"/>
              </a:rPr>
              <a:t>11 /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029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E1B32"/>
                </a:solidFill>
                <a:latin typeface="Cambria"/>
              </a:rPr>
              <a:t>Цикл одного шага симуляции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640080" cy="45720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0E1B32"/>
                </a:solidFill>
                <a:latin typeface="Calibri"/>
              </a:rPr>
              <a:t>Порядок зафиксирован в simulator_step. Перестановка ломает детерминизм, поэтому изменения там запрещены.</a:t>
            </a:r>
          </a:p>
        </p:txBody>
      </p:sp>
      <p:pic>
        <p:nvPicPr>
          <p:cNvPr id="9" name="Picture 8" descr="sim_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697480"/>
            <a:ext cx="7735694" cy="2560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594360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4A556B"/>
                </a:solidFill>
                <a:latin typeface="Calibri"/>
              </a:rPr>
              <a:t>1) cycle++ → 2) tick всех периферий → 3) dispatch событий → 4) core_step → 5) check breakpoints.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377440"/>
            <a:ext cx="27432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0" b="1" i="0">
                <a:solidFill>
                  <a:srgbClr val="F2A65A"/>
                </a:solidFill>
                <a:latin typeface="Cambria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274320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4EC9B0"/>
                </a:solidFill>
                <a:latin typeface="Consolas"/>
              </a:rPr>
              <a:t>// 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0" y="3108960"/>
            <a:ext cx="73152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Cambria"/>
              </a:rPr>
              <a:t>Ядро Cortex-M3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40" y="5120640"/>
            <a:ext cx="1371600" cy="36576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A95A8"/>
                </a:solidFill>
                <a:latin typeface="Consolas"/>
              </a:rPr>
              <a:t>12 / 40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09760" y="27432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4A556B"/>
                </a:solidFill>
                <a:latin typeface="Consolas"/>
              </a:rPr>
              <a:t>core/core.h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A556B"/>
                </a:solidFill>
                <a:latin typeface="Consolas"/>
              </a:rPr>
              <a:t>STM32F103 Simulator · ИТМО · ПрВС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4A556B"/>
                </a:solidFill>
                <a:latin typeface="Consolas"/>
              </a:rPr>
              <a:t>13 /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029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E1B32"/>
                </a:solidFill>
                <a:latin typeface="Cambria"/>
              </a:rPr>
              <a:t>Состояние ядра (CoreState)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640080" cy="45720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0E1B32"/>
                </a:solidFill>
                <a:latin typeface="Calibri"/>
              </a:rPr>
              <a:t>Структура из core.h хранит весь регистровый файл и служебные флаги. На неё опираются декодер, вход/выход прерываний и отладчик через GDB.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743200"/>
            <a:ext cx="36576" cy="347472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7432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E1B32"/>
                </a:solidFill>
                <a:latin typeface="Cambria"/>
              </a:rPr>
              <a:t>Регистры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200400"/>
            <a:ext cx="5029200" cy="31089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>
                <a:solidFill>
                  <a:srgbClr val="4EC9B0"/>
                </a:solidFill>
                <a:latin typeface="Consolas"/>
              </a:rPr>
              <a:t>■  </a:t>
            </a:r>
            <a:r>
              <a:rPr sz="1400">
                <a:solidFill>
                  <a:srgbClr val="0E1B32"/>
                </a:solidFill>
                <a:latin typeface="Calibri"/>
              </a:rPr>
              <a:t>r[16] — общие регистры R0–R15 (включая SP, LR, PC).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>
                <a:solidFill>
                  <a:srgbClr val="4EC9B0"/>
                </a:solidFill>
                <a:latin typeface="Consolas"/>
              </a:rPr>
              <a:t>■  </a:t>
            </a:r>
            <a:r>
              <a:rPr sz="1400">
                <a:solidFill>
                  <a:srgbClr val="0E1B32"/>
                </a:solidFill>
                <a:latin typeface="Calibri"/>
              </a:rPr>
              <a:t>xpsr — флаги N/Z/C/V в битах 31–28.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>
                <a:solidFill>
                  <a:srgbClr val="4EC9B0"/>
                </a:solidFill>
                <a:latin typeface="Consolas"/>
              </a:rPr>
              <a:t>■  </a:t>
            </a:r>
            <a:r>
              <a:rPr sz="1400">
                <a:solidFill>
                  <a:srgbClr val="0E1B32"/>
                </a:solidFill>
                <a:latin typeface="Calibri"/>
              </a:rPr>
              <a:t>thumb_mode — всегда true для Cortex-M3.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2743200"/>
            <a:ext cx="36576" cy="3474720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74320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E1B32"/>
                </a:solidFill>
                <a:latin typeface="Cambria"/>
              </a:rPr>
              <a:t>Служебные поля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3200400"/>
            <a:ext cx="5212080" cy="31089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>
                <a:solidFill>
                  <a:srgbClr val="F2A65A"/>
                </a:solidFill>
                <a:latin typeface="Consolas"/>
              </a:rPr>
              <a:t>■  </a:t>
            </a:r>
            <a:r>
              <a:rPr sz="1400">
                <a:solidFill>
                  <a:srgbClr val="0E1B32"/>
                </a:solidFill>
                <a:latin typeface="Calibri"/>
              </a:rPr>
              <a:t>interruptible — разрешены ли прерывания.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>
                <a:solidFill>
                  <a:srgbClr val="F2A65A"/>
                </a:solidFill>
                <a:latin typeface="Consolas"/>
              </a:rPr>
              <a:t>■  </a:t>
            </a:r>
            <a:r>
              <a:rPr sz="1400">
                <a:solidFill>
                  <a:srgbClr val="0E1B32"/>
                </a:solidFill>
                <a:latin typeface="Calibri"/>
              </a:rPr>
              <a:t>current_irq — кодируется IRQ либо core-исключение (0x8000 | n).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>
                <a:solidFill>
                  <a:srgbClr val="F2A65A"/>
                </a:solidFill>
                <a:latin typeface="Consolas"/>
              </a:rPr>
              <a:t>■  </a:t>
            </a:r>
            <a:r>
              <a:rPr sz="1400">
                <a:solidFill>
                  <a:srgbClr val="0E1B32"/>
                </a:solidFill>
                <a:latin typeface="Calibri"/>
              </a:rPr>
              <a:t>cycles — счётчик тактов для метрик и тестов.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09760" y="27432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4A556B"/>
                </a:solidFill>
                <a:latin typeface="Consolas"/>
              </a:rPr>
              <a:t>instr_table[]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A556B"/>
                </a:solidFill>
                <a:latin typeface="Consolas"/>
              </a:rPr>
              <a:t>STM32F103 Simulator · ИТМО · ПрВС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4A556B"/>
                </a:solidFill>
                <a:latin typeface="Consolas"/>
              </a:rPr>
              <a:t>14 /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029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E1B32"/>
                </a:solidFill>
                <a:latin typeface="Cambria"/>
              </a:rPr>
              <a:t>Декодер инструкций Thumb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640080" cy="45720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0E1B32"/>
                </a:solidFill>
                <a:latin typeface="Calibri"/>
              </a:rPr>
              <a:t>В core.c таблица instr_table сопоставляет 16-битные инструкции по mask/pattern. Реализованы все ключевые «форматы» из ARM Architecture Reference Manual.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834640"/>
            <a:ext cx="4572000" cy="3291840"/>
          </a:xfrm>
          <a:prstGeom prst="rect">
            <a:avLst/>
          </a:prstGeom>
          <a:solidFill>
            <a:srgbClr val="0B1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CB91"/>
                </a:solidFill>
                <a:latin typeface="Consolas"/>
              </a:rPr>
              <a:t>// stat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46120"/>
            <a:ext cx="429768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0" b="1" i="0">
                <a:solidFill>
                  <a:srgbClr val="F2A65A"/>
                </a:solidFill>
                <a:latin typeface="Cambria"/>
              </a:rPr>
              <a:t>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532120"/>
            <a:ext cx="4297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C2D4EE"/>
                </a:solidFill>
                <a:latin typeface="Calibri"/>
              </a:rPr>
              <a:t>форматов Thumb-1 + 32-битные Thumb-2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2834640"/>
            <a:ext cx="6400800" cy="36576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>
                <a:solidFill>
                  <a:srgbClr val="F2A65A"/>
                </a:solidFill>
                <a:latin typeface="Consolas"/>
              </a:rPr>
              <a:t>■  </a:t>
            </a:r>
            <a:r>
              <a:rPr sz="1600">
                <a:solidFill>
                  <a:srgbClr val="0E1B32"/>
                </a:solidFill>
                <a:latin typeface="Calibri"/>
              </a:rPr>
              <a:t>Сдвиги (1), ADD/SUB (2), immediate-8 (3).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>
                <a:solidFill>
                  <a:srgbClr val="F2A65A"/>
                </a:solidFill>
                <a:latin typeface="Consolas"/>
              </a:rPr>
              <a:t>■  </a:t>
            </a:r>
            <a:r>
              <a:rPr sz="1600">
                <a:solidFill>
                  <a:srgbClr val="0E1B32"/>
                </a:solidFill>
                <a:latin typeface="Calibri"/>
              </a:rPr>
              <a:t>ALU register (4), Hi/BX (5), PC-relative LDR (6).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>
                <a:solidFill>
                  <a:srgbClr val="F2A65A"/>
                </a:solidFill>
                <a:latin typeface="Consolas"/>
              </a:rPr>
              <a:t>■  </a:t>
            </a:r>
            <a:r>
              <a:rPr sz="1600">
                <a:solidFill>
                  <a:srgbClr val="0E1B32"/>
                </a:solidFill>
                <a:latin typeface="Calibri"/>
              </a:rPr>
              <a:t>Reg-offset и imm-offset load/store (7–10), SP-relative (11).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>
                <a:solidFill>
                  <a:srgbClr val="F2A65A"/>
                </a:solidFill>
                <a:latin typeface="Consolas"/>
              </a:rPr>
              <a:t>■  </a:t>
            </a:r>
            <a:r>
              <a:rPr sz="1600">
                <a:solidFill>
                  <a:srgbClr val="0E1B32"/>
                </a:solidFill>
                <a:latin typeface="Calibri"/>
              </a:rPr>
              <a:t>ADR/SP±, PUSH/POP (12–14), BCC, SVC, B (16–18).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>
                <a:solidFill>
                  <a:srgbClr val="F2A65A"/>
                </a:solidFill>
                <a:latin typeface="Consolas"/>
              </a:rPr>
              <a:t>■  </a:t>
            </a:r>
            <a:r>
              <a:rPr sz="1600">
                <a:solidFill>
                  <a:srgbClr val="0E1B32"/>
                </a:solidFill>
                <a:latin typeface="Calibri"/>
              </a:rPr>
              <a:t>Условные ветви через condition_passed (флаги xPSR).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09760" y="27432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4A556B"/>
                </a:solidFill>
                <a:latin typeface="Consolas"/>
              </a:rPr>
              <a:t>execute_32bit()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A556B"/>
                </a:solidFill>
                <a:latin typeface="Consolas"/>
              </a:rPr>
              <a:t>STM32F103 Simulator · ИТМО · ПрВС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4A556B"/>
                </a:solidFill>
                <a:latin typeface="Consolas"/>
              </a:rPr>
              <a:t>15 /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029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E1B32"/>
                </a:solidFill>
                <a:latin typeface="Cambria"/>
              </a:rPr>
              <a:t>Расширение Thumb-2 (32-битные)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640080" cy="45720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0E1B32"/>
                </a:solidFill>
                <a:latin typeface="Calibri"/>
              </a:rPr>
              <a:t>Если первые биты инструкции попадают в область 32-битных Thumb-2, выполнение уходит в execute_32bit. Это критично для прошивок, собранных современным arm-none-eabi-gcc.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743200"/>
            <a:ext cx="11155680" cy="36576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>
                <a:solidFill>
                  <a:srgbClr val="F2A65A"/>
                </a:solidFill>
                <a:latin typeface="Consolas"/>
              </a:rPr>
              <a:t>■  </a:t>
            </a:r>
            <a:r>
              <a:rPr sz="1600">
                <a:solidFill>
                  <a:srgbClr val="0E1B32"/>
                </a:solidFill>
                <a:latin typeface="Calibri"/>
              </a:rPr>
              <a:t>BL — 32-битный branch with link для вызовов функций.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>
                <a:solidFill>
                  <a:srgbClr val="F2A65A"/>
                </a:solidFill>
                <a:latin typeface="Consolas"/>
              </a:rPr>
              <a:t>■  </a:t>
            </a:r>
            <a:r>
              <a:rPr sz="1600">
                <a:solidFill>
                  <a:srgbClr val="0E1B32"/>
                </a:solidFill>
                <a:latin typeface="Calibri"/>
              </a:rPr>
              <a:t>MOVW / MOVT — загрузка 16-битных immediate в регистр.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>
                <a:solidFill>
                  <a:srgbClr val="F2A65A"/>
                </a:solidFill>
                <a:latin typeface="Consolas"/>
              </a:rPr>
              <a:t>■  </a:t>
            </a:r>
            <a:r>
              <a:rPr sz="1600">
                <a:solidFill>
                  <a:srgbClr val="0E1B32"/>
                </a:solidFill>
                <a:latin typeface="Calibri"/>
              </a:rPr>
              <a:t>modified-immediate dataproc — арифметика и логика с константами.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>
                <a:solidFill>
                  <a:srgbClr val="F2A65A"/>
                </a:solidFill>
                <a:latin typeface="Consolas"/>
              </a:rPr>
              <a:t>■  </a:t>
            </a:r>
            <a:r>
              <a:rPr sz="1600">
                <a:solidFill>
                  <a:srgbClr val="0E1B32"/>
                </a:solidFill>
                <a:latin typeface="Calibri"/>
              </a:rPr>
              <a:t>wide LDR/STR — обращения с большим смещением.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>
                <a:solidFill>
                  <a:srgbClr val="F2A65A"/>
                </a:solidFill>
                <a:latin typeface="Consolas"/>
              </a:rPr>
              <a:t>■  </a:t>
            </a:r>
            <a:r>
              <a:rPr sz="1600">
                <a:solidFill>
                  <a:srgbClr val="0E1B32"/>
                </a:solidFill>
                <a:latin typeface="Calibri"/>
              </a:rPr>
              <a:t>знаковые загрузки и UMULL/SMULL для 64-битных операций.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09760" y="27432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4A556B"/>
                </a:solidFill>
                <a:latin typeface="Consolas"/>
              </a:rPr>
              <a:t>EXC_RETURN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A556B"/>
                </a:solidFill>
                <a:latin typeface="Consolas"/>
              </a:rPr>
              <a:t>STM32F103 Simulator · ИТМО · ПрВС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4A556B"/>
                </a:solidFill>
                <a:latin typeface="Consolas"/>
              </a:rPr>
              <a:t>16 /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029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E1B32"/>
                </a:solidFill>
                <a:latin typeface="Cambria"/>
              </a:rPr>
              <a:t>Вход и выход из прерывания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640080" cy="45720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0E1B32"/>
                </a:solidFill>
                <a:latin typeface="Calibri"/>
              </a:rPr>
              <a:t>Cortex-M3 кладёт в стек кадр и подменяет LR специальным магическим значением EXC_RETURN.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743200"/>
            <a:ext cx="3200400" cy="411480"/>
          </a:xfrm>
          <a:prstGeom prst="rect">
            <a:avLst/>
          </a:prstGeom>
          <a:solidFill>
            <a:srgbClr val="0B1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2816352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mbria"/>
              </a:rPr>
              <a:t>Значение LR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03320" y="2743200"/>
            <a:ext cx="4937760" cy="411480"/>
          </a:xfrm>
          <a:prstGeom prst="rect">
            <a:avLst/>
          </a:prstGeom>
          <a:solidFill>
            <a:srgbClr val="0B1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3048" y="2816352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mbria"/>
              </a:rPr>
              <a:t>Что означает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41080" y="2743200"/>
            <a:ext cx="3017520" cy="411480"/>
          </a:xfrm>
          <a:prstGeom prst="rect">
            <a:avLst/>
          </a:prstGeom>
          <a:solidFill>
            <a:srgbClr val="0B1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50807" y="2816352"/>
            <a:ext cx="283463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mbria"/>
              </a:rPr>
              <a:t>Куда вернуться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154680"/>
            <a:ext cx="11155680" cy="411480"/>
          </a:xfrm>
          <a:prstGeom prst="rect">
            <a:avLst/>
          </a:prstGeom>
          <a:solidFill>
            <a:srgbClr val="E8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3227832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2A65A"/>
                </a:solidFill>
                <a:latin typeface="Consolas"/>
              </a:rPr>
              <a:t>0xFFFFFFF1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13048" y="3227832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E1B32"/>
                </a:solidFill>
                <a:latin typeface="Calibri"/>
              </a:rPr>
              <a:t>возврат в Handler-mode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50807" y="3227832"/>
            <a:ext cx="283463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E1B32"/>
                </a:solidFill>
                <a:latin typeface="Calibri"/>
              </a:rPr>
              <a:t>MSP, привилегированно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566160"/>
            <a:ext cx="11155680" cy="411480"/>
          </a:xfrm>
          <a:prstGeom prst="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" y="3639312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2A65A"/>
                </a:solidFill>
                <a:latin typeface="Consolas"/>
              </a:rPr>
              <a:t>0xFFFFFFF9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13048" y="3639312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E1B32"/>
                </a:solidFill>
                <a:latin typeface="Calibri"/>
              </a:rPr>
              <a:t>возврат в Thread-mode + MSP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50807" y="3639312"/>
            <a:ext cx="283463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E1B32"/>
                </a:solidFill>
                <a:latin typeface="Calibri"/>
              </a:rPr>
              <a:t>main-стек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977640"/>
            <a:ext cx="11155680" cy="411480"/>
          </a:xfrm>
          <a:prstGeom prst="rect">
            <a:avLst/>
          </a:prstGeom>
          <a:solidFill>
            <a:srgbClr val="E8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" y="4050792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2A65A"/>
                </a:solidFill>
                <a:latin typeface="Consolas"/>
              </a:rPr>
              <a:t>0xFFFFFFFD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13048" y="4050792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E1B32"/>
                </a:solidFill>
                <a:latin typeface="Calibri"/>
              </a:rPr>
              <a:t>возврат в Thread-mode + PSP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0807" y="4050792"/>
            <a:ext cx="283463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E1B32"/>
                </a:solidFill>
                <a:latin typeface="Calibri"/>
              </a:rPr>
              <a:t>process-стек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389120"/>
            <a:ext cx="11155680" cy="411480"/>
          </a:xfrm>
          <a:prstGeom prst="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" y="4462272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2A65A"/>
                </a:solidFill>
                <a:latin typeface="Consolas"/>
              </a:rPr>
              <a:t>IS_EXC_RETURN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13048" y="4462272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E1B32"/>
                </a:solidFill>
                <a:latin typeface="Calibri"/>
              </a:rPr>
              <a:t>(LR &amp; 0xFFFFFFF0) == 0xFFFFFFF0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50807" y="4462272"/>
            <a:ext cx="283463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E1B32"/>
                </a:solidFill>
                <a:latin typeface="Calibri"/>
              </a:rPr>
              <a:t>детектируется в BX/POP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377440"/>
            <a:ext cx="27432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0" b="1" i="0">
                <a:solidFill>
                  <a:srgbClr val="F2A65A"/>
                </a:solidFill>
                <a:latin typeface="Cambria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274320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4EC9B0"/>
                </a:solidFill>
                <a:latin typeface="Consolas"/>
              </a:rPr>
              <a:t>// 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0" y="3108960"/>
            <a:ext cx="73152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Cambria"/>
              </a:rPr>
              <a:t>NVIC — контроллер прерываний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40" y="5120640"/>
            <a:ext cx="1371600" cy="36576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A95A8"/>
                </a:solidFill>
                <a:latin typeface="Consolas"/>
              </a:rPr>
              <a:t>17 / 40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09760" y="27432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4A556B"/>
                </a:solidFill>
                <a:latin typeface="Consolas"/>
              </a:rPr>
              <a:t>nvic.h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A556B"/>
                </a:solidFill>
                <a:latin typeface="Consolas"/>
              </a:rPr>
              <a:t>STM32F103 Simulator · ИТМО · ПрВС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4A556B"/>
                </a:solidFill>
                <a:latin typeface="Consolas"/>
              </a:rPr>
              <a:t>18 /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029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E1B32"/>
                </a:solidFill>
                <a:latin typeface="Cambria"/>
              </a:rPr>
              <a:t>NVIC: что внутри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640080" cy="45720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0E1B32"/>
                </a:solidFill>
                <a:latin typeface="Calibri"/>
              </a:rPr>
              <a:t>Структура NVIC хранит массивы pending/active/enabled/priority и текущий приоритет. Логика выбора IRQ — функция nvic_get_pending_irq.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834640"/>
            <a:ext cx="4572000" cy="3291840"/>
          </a:xfrm>
          <a:prstGeom prst="rect">
            <a:avLst/>
          </a:prstGeom>
          <a:solidFill>
            <a:srgbClr val="0B1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CB91"/>
                </a:solidFill>
                <a:latin typeface="Consolas"/>
              </a:rPr>
              <a:t>// stat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46120"/>
            <a:ext cx="429768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0" b="1" i="0">
                <a:solidFill>
                  <a:srgbClr val="F2A65A"/>
                </a:solidFill>
                <a:latin typeface="Cambria"/>
              </a:rPr>
              <a:t>43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532120"/>
            <a:ext cx="4297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C2D4EE"/>
                </a:solidFill>
                <a:latin typeface="Calibri"/>
              </a:rPr>
              <a:t>линий внешних прерываний + SysTick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2834640"/>
            <a:ext cx="6400800" cy="36576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>
                <a:solidFill>
                  <a:srgbClr val="F2A65A"/>
                </a:solidFill>
                <a:latin typeface="Consolas"/>
              </a:rPr>
              <a:t>■  </a:t>
            </a:r>
            <a:r>
              <a:rPr sz="1600">
                <a:solidFill>
                  <a:srgbClr val="0E1B32"/>
                </a:solidFill>
                <a:latin typeface="Calibri"/>
              </a:rPr>
              <a:t>Приоритет: меньшее число = важнее.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>
                <a:solidFill>
                  <a:srgbClr val="F2A65A"/>
                </a:solidFill>
                <a:latin typeface="Consolas"/>
              </a:rPr>
              <a:t>■  </a:t>
            </a:r>
            <a:r>
              <a:rPr sz="1600">
                <a:solidFill>
                  <a:srgbClr val="0E1B32"/>
                </a:solidFill>
                <a:latin typeface="Calibri"/>
              </a:rPr>
              <a:t>Выбирается enabled+pending IRQ с наименьшим priority &lt; current_priority.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>
                <a:solidFill>
                  <a:srgbClr val="F2A65A"/>
                </a:solidFill>
                <a:latin typeface="Consolas"/>
              </a:rPr>
              <a:t>■  </a:t>
            </a:r>
            <a:r>
              <a:rPr sz="1600">
                <a:solidFill>
                  <a:srgbClr val="0E1B32"/>
                </a:solidFill>
                <a:latin typeface="Calibri"/>
              </a:rPr>
              <a:t>nvic_acknowledge — clear pending, set active.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>
                <a:solidFill>
                  <a:srgbClr val="F2A65A"/>
                </a:solidFill>
                <a:latin typeface="Consolas"/>
              </a:rPr>
              <a:t>■  </a:t>
            </a:r>
            <a:r>
              <a:rPr sz="1600">
                <a:solidFill>
                  <a:srgbClr val="0E1B32"/>
                </a:solidFill>
                <a:latin typeface="Calibri"/>
              </a:rPr>
              <a:t>nvic_complete — clear active и пересчёт current_priority.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>
                <a:solidFill>
                  <a:srgbClr val="F2A65A"/>
                </a:solidFill>
                <a:latin typeface="Consolas"/>
              </a:rPr>
              <a:t>■  </a:t>
            </a:r>
            <a:r>
              <a:rPr sz="1600">
                <a:solidFill>
                  <a:srgbClr val="0E1B32"/>
                </a:solidFill>
                <a:latin typeface="Calibri"/>
              </a:rPr>
              <a:t>SysTick живёт отдельным набором полей, проверяется в core_step.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09760" y="27432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4A556B"/>
                </a:solidFill>
                <a:latin typeface="Consolas"/>
              </a:rPr>
              <a:t>0xE000E100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A556B"/>
                </a:solidFill>
                <a:latin typeface="Consolas"/>
              </a:rPr>
              <a:t>STM32F103 Simulator · ИТМО · ПрВС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4A556B"/>
                </a:solidFill>
                <a:latin typeface="Consolas"/>
              </a:rPr>
              <a:t>19 /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029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E1B32"/>
                </a:solidFill>
                <a:latin typeface="Cambria"/>
              </a:rPr>
              <a:t>Регистры NVIC через шину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640080" cy="45720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0E1B32"/>
                </a:solidFill>
                <a:latin typeface="Calibri"/>
              </a:rPr>
              <a:t>В nvic_bus.c регион 0xE000E100 + 0x400 — стандартный MMIO интерфейс Cortex-M к NVIC.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743200"/>
            <a:ext cx="2560320" cy="411480"/>
          </a:xfrm>
          <a:prstGeom prst="rect">
            <a:avLst/>
          </a:prstGeom>
          <a:solidFill>
            <a:srgbClr val="0B1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2816352"/>
            <a:ext cx="237743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mbria"/>
              </a:rPr>
              <a:t>Адрес (от базы)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63239" y="2743200"/>
            <a:ext cx="2377440" cy="411480"/>
          </a:xfrm>
          <a:prstGeom prst="rect">
            <a:avLst/>
          </a:prstGeom>
          <a:solidFill>
            <a:srgbClr val="0B1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72968" y="2816352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mbria"/>
              </a:rPr>
              <a:t>Регистр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40679" y="2743200"/>
            <a:ext cx="6217920" cy="411480"/>
          </a:xfrm>
          <a:prstGeom prst="rect">
            <a:avLst/>
          </a:prstGeom>
          <a:solidFill>
            <a:srgbClr val="0B1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50407" y="2816352"/>
            <a:ext cx="60350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mbria"/>
              </a:rPr>
              <a:t>Назначение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154680"/>
            <a:ext cx="11155680" cy="411480"/>
          </a:xfrm>
          <a:prstGeom prst="rect">
            <a:avLst/>
          </a:prstGeom>
          <a:solidFill>
            <a:srgbClr val="E8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3227832"/>
            <a:ext cx="237743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2A65A"/>
                </a:solidFill>
                <a:latin typeface="Consolas"/>
              </a:rPr>
              <a:t>0x000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72968" y="3227832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E1B32"/>
                </a:solidFill>
                <a:latin typeface="Calibri"/>
              </a:rPr>
              <a:t>ISER0/1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50407" y="3227832"/>
            <a:ext cx="60350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E1B32"/>
                </a:solidFill>
                <a:latin typeface="Calibri"/>
              </a:rPr>
              <a:t>set-enable IRQ (write-1)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566160"/>
            <a:ext cx="11155680" cy="411480"/>
          </a:xfrm>
          <a:prstGeom prst="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" y="3639312"/>
            <a:ext cx="237743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2A65A"/>
                </a:solidFill>
                <a:latin typeface="Consolas"/>
              </a:rPr>
              <a:t>0x080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72968" y="3639312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E1B32"/>
                </a:solidFill>
                <a:latin typeface="Calibri"/>
              </a:rPr>
              <a:t>ICER0/1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50407" y="3639312"/>
            <a:ext cx="60350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E1B32"/>
                </a:solidFill>
                <a:latin typeface="Calibri"/>
              </a:rPr>
              <a:t>clear-enable IRQ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977640"/>
            <a:ext cx="11155680" cy="411480"/>
          </a:xfrm>
          <a:prstGeom prst="rect">
            <a:avLst/>
          </a:prstGeom>
          <a:solidFill>
            <a:srgbClr val="E8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" y="4050792"/>
            <a:ext cx="237743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2A65A"/>
                </a:solidFill>
                <a:latin typeface="Consolas"/>
              </a:rPr>
              <a:t>0x100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72968" y="4050792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E1B32"/>
                </a:solidFill>
                <a:latin typeface="Calibri"/>
              </a:rPr>
              <a:t>ISPR0/1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50407" y="4050792"/>
            <a:ext cx="60350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E1B32"/>
                </a:solidFill>
                <a:latin typeface="Calibri"/>
              </a:rPr>
              <a:t>set-pending IRQ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389120"/>
            <a:ext cx="11155680" cy="411480"/>
          </a:xfrm>
          <a:prstGeom prst="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" y="4462272"/>
            <a:ext cx="237743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2A65A"/>
                </a:solidFill>
                <a:latin typeface="Consolas"/>
              </a:rPr>
              <a:t>0x180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72968" y="4462272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E1B32"/>
                </a:solidFill>
                <a:latin typeface="Calibri"/>
              </a:rPr>
              <a:t>ICPR0/1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50407" y="4462272"/>
            <a:ext cx="60350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E1B32"/>
                </a:solidFill>
                <a:latin typeface="Calibri"/>
              </a:rPr>
              <a:t>clear-pending IRQ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800600"/>
            <a:ext cx="11155680" cy="411480"/>
          </a:xfrm>
          <a:prstGeom prst="rect">
            <a:avLst/>
          </a:prstGeom>
          <a:solidFill>
            <a:srgbClr val="E8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8" y="4873752"/>
            <a:ext cx="237743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2A65A"/>
                </a:solidFill>
                <a:latin typeface="Consolas"/>
              </a:rPr>
              <a:t>0x200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72968" y="4873752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E1B32"/>
                </a:solidFill>
                <a:latin typeface="Calibri"/>
              </a:rPr>
              <a:t>IABR0/1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50407" y="4873752"/>
            <a:ext cx="60350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E1B32"/>
                </a:solidFill>
                <a:latin typeface="Calibri"/>
              </a:rPr>
              <a:t>active bits (только чтение)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5212080"/>
            <a:ext cx="11155680" cy="411480"/>
          </a:xfrm>
          <a:prstGeom prst="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2648" y="5285232"/>
            <a:ext cx="237743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2A65A"/>
                </a:solidFill>
                <a:latin typeface="Consolas"/>
              </a:rPr>
              <a:t>0x300+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72968" y="5285232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E1B32"/>
                </a:solidFill>
                <a:latin typeface="Calibri"/>
              </a:rPr>
              <a:t>IPR0..n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50407" y="5285232"/>
            <a:ext cx="60350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E1B32"/>
                </a:solidFill>
                <a:latin typeface="Calibri"/>
              </a:rPr>
              <a:t>приоритеты (по 8 бит на IRQ)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377440"/>
            <a:ext cx="27432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0" b="1" i="0">
                <a:solidFill>
                  <a:srgbClr val="F2A65A"/>
                </a:solidFill>
                <a:latin typeface="Cambria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274320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4EC9B0"/>
                </a:solidFill>
                <a:latin typeface="Consolas"/>
              </a:rPr>
              <a:t>// 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0" y="3108960"/>
            <a:ext cx="73152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Cambria"/>
              </a:rPr>
              <a:t>Память и шина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40" y="5120640"/>
            <a:ext cx="1371600" cy="36576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A95A8"/>
                </a:solidFill>
                <a:latin typeface="Consolas"/>
              </a:rPr>
              <a:t>20 / 40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09760" y="27432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4A556B"/>
                </a:solidFill>
                <a:latin typeface="Consolas"/>
              </a:rPr>
              <a:t>memory.c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A556B"/>
                </a:solidFill>
                <a:latin typeface="Consolas"/>
              </a:rPr>
              <a:t>STM32F103 Simulator · ИТМО · ПрВС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4A556B"/>
                </a:solidFill>
                <a:latin typeface="Consolas"/>
              </a:rPr>
              <a:t>21 /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029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E1B32"/>
                </a:solidFill>
                <a:latin typeface="Cambria"/>
              </a:rPr>
              <a:t>Memory: Flash и SRAM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640080" cy="45720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0E1B32"/>
                </a:solidFill>
                <a:latin typeface="Calibri"/>
              </a:rPr>
              <a:t>memory.c использует два байтовых массива и пары read_le/write_le для little-endian доступа.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743200"/>
            <a:ext cx="36576" cy="347472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7432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E1B32"/>
                </a:solidFill>
                <a:latin typeface="Cambria"/>
              </a:rPr>
              <a:t>Flash · 64 КБ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200400"/>
            <a:ext cx="5029200" cy="31089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>
                <a:solidFill>
                  <a:srgbClr val="4EC9B0"/>
                </a:solidFill>
                <a:latin typeface="Consolas"/>
              </a:rPr>
              <a:t>■  </a:t>
            </a:r>
            <a:r>
              <a:rPr sz="1400">
                <a:solidFill>
                  <a:srgbClr val="0E1B32"/>
                </a:solidFill>
                <a:latin typeface="Calibri"/>
              </a:rPr>
              <a:t>База 0x08000000.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>
                <a:solidFill>
                  <a:srgbClr val="4EC9B0"/>
                </a:solidFill>
                <a:latin typeface="Consolas"/>
              </a:rPr>
              <a:t>■  </a:t>
            </a:r>
            <a:r>
              <a:rPr sz="1400">
                <a:solidFill>
                  <a:srgbClr val="0E1B32"/>
                </a:solidFill>
                <a:latin typeface="Calibri"/>
              </a:rPr>
              <a:t>Только чтение: попытка записи → STATUS_ERROR.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>
                <a:solidFill>
                  <a:srgbClr val="4EC9B0"/>
                </a:solidFill>
                <a:latin typeface="Consolas"/>
              </a:rPr>
              <a:t>■  </a:t>
            </a:r>
            <a:r>
              <a:rPr sz="1400">
                <a:solidFill>
                  <a:srgbClr val="0E1B32"/>
                </a:solidFill>
                <a:latin typeface="Calibri"/>
              </a:rPr>
              <a:t>memory_load_binary читает .bin от 0 до 64 КБ.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>
                <a:solidFill>
                  <a:srgbClr val="4EC9B0"/>
                </a:solidFill>
                <a:latin typeface="Consolas"/>
              </a:rPr>
              <a:t>■  </a:t>
            </a:r>
            <a:r>
              <a:rPr sz="1400">
                <a:solidFill>
                  <a:srgbClr val="0E1B32"/>
                </a:solidFill>
                <a:latin typeface="Calibri"/>
              </a:rPr>
              <a:t>На алиас 0x00000000 виден тот же образ.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2743200"/>
            <a:ext cx="36576" cy="3474720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74320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E1B32"/>
                </a:solidFill>
                <a:latin typeface="Cambria"/>
              </a:rPr>
              <a:t>SRAM · 20 КБ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3200400"/>
            <a:ext cx="5212080" cy="31089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>
                <a:solidFill>
                  <a:srgbClr val="F2A65A"/>
                </a:solidFill>
                <a:latin typeface="Consolas"/>
              </a:rPr>
              <a:t>■  </a:t>
            </a:r>
            <a:r>
              <a:rPr sz="1400">
                <a:solidFill>
                  <a:srgbClr val="0E1B32"/>
                </a:solidFill>
                <a:latin typeface="Calibri"/>
              </a:rPr>
              <a:t>База 0x20000000.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>
                <a:solidFill>
                  <a:srgbClr val="F2A65A"/>
                </a:solidFill>
                <a:latin typeface="Consolas"/>
              </a:rPr>
              <a:t>■  </a:t>
            </a:r>
            <a:r>
              <a:rPr sz="1400">
                <a:solidFill>
                  <a:srgbClr val="0E1B32"/>
                </a:solidFill>
                <a:latin typeface="Calibri"/>
              </a:rPr>
              <a:t>Чтение/запись 1, 2 или 4 байта — иное возвращает 0.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>
                <a:solidFill>
                  <a:srgbClr val="F2A65A"/>
                </a:solidFill>
                <a:latin typeface="Consolas"/>
              </a:rPr>
              <a:t>■  </a:t>
            </a:r>
            <a:r>
              <a:rPr sz="1400">
                <a:solidFill>
                  <a:srgbClr val="0E1B32"/>
                </a:solidFill>
                <a:latin typeface="Calibri"/>
              </a:rPr>
              <a:t>OOB-запись → STATUS_INVALID_ADDRESS.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>
                <a:solidFill>
                  <a:srgbClr val="F2A65A"/>
                </a:solidFill>
                <a:latin typeface="Consolas"/>
              </a:rPr>
              <a:t>■  </a:t>
            </a:r>
            <a:r>
              <a:rPr sz="1400">
                <a:solidFill>
                  <a:srgbClr val="0E1B32"/>
                </a:solidFill>
                <a:latin typeface="Calibri"/>
              </a:rPr>
              <a:t>memory_reset очищает SRAM, Flash сохраняется.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09760" y="27432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4A556B"/>
                </a:solidFill>
                <a:latin typeface="Consolas"/>
              </a:rPr>
              <a:t>bus.c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A556B"/>
                </a:solidFill>
                <a:latin typeface="Consolas"/>
              </a:rPr>
              <a:t>STM32F103 Simulator · ИТМО · ПрВС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4A556B"/>
                </a:solidFill>
                <a:latin typeface="Consolas"/>
              </a:rPr>
              <a:t>22 /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029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E1B32"/>
                </a:solidFill>
                <a:latin typeface="Cambria"/>
              </a:rPr>
              <a:t>Bus — диспетчер адресов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640080" cy="45720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0E1B32"/>
                </a:solidFill>
                <a:latin typeface="Calibri"/>
              </a:rPr>
              <a:t>bus.c хранит до 24 BusRegion (base, size, ctx, read, write). Линейный поиск находит нужный регион и вычисляет offset = addr − base.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834640"/>
            <a:ext cx="4572000" cy="3291840"/>
          </a:xfrm>
          <a:prstGeom prst="rect">
            <a:avLst/>
          </a:prstGeom>
          <a:solidFill>
            <a:srgbClr val="0B1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CB91"/>
                </a:solidFill>
                <a:latin typeface="Consolas"/>
              </a:rPr>
              <a:t>// stat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46120"/>
            <a:ext cx="429768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0" b="1" i="0">
                <a:solidFill>
                  <a:srgbClr val="F2A65A"/>
                </a:solidFill>
                <a:latin typeface="Cambria"/>
              </a:rPr>
              <a:t>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532120"/>
            <a:ext cx="4297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C2D4EE"/>
                </a:solidFill>
                <a:latin typeface="Calibri"/>
              </a:rPr>
              <a:t>максимум регистрируемых регионов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2834640"/>
            <a:ext cx="6400800" cy="36576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>
                <a:solidFill>
                  <a:srgbClr val="F2A65A"/>
                </a:solidFill>
                <a:latin typeface="Consolas"/>
              </a:rPr>
              <a:t>■  </a:t>
            </a:r>
            <a:r>
              <a:rPr sz="1600">
                <a:solidFill>
                  <a:srgbClr val="0E1B32"/>
                </a:solidFill>
                <a:latin typeface="Calibri"/>
              </a:rPr>
              <a:t>bus_register_region добавляет регион — без авто-проверки пересечений.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>
                <a:solidFill>
                  <a:srgbClr val="F2A65A"/>
                </a:solidFill>
                <a:latin typeface="Consolas"/>
              </a:rPr>
              <a:t>■  </a:t>
            </a:r>
            <a:r>
              <a:rPr sz="1600">
                <a:solidFill>
                  <a:srgbClr val="0E1B32"/>
                </a:solidFill>
                <a:latin typeface="Calibri"/>
              </a:rPr>
              <a:t>Read miss → 0 + сообщение в stderr (диагностика).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>
                <a:solidFill>
                  <a:srgbClr val="F2A65A"/>
                </a:solidFill>
                <a:latin typeface="Consolas"/>
              </a:rPr>
              <a:t>■  </a:t>
            </a:r>
            <a:r>
              <a:rPr sz="1600">
                <a:solidFill>
                  <a:srgbClr val="0E1B32"/>
                </a:solidFill>
                <a:latin typeface="Calibri"/>
              </a:rPr>
              <a:t>Write miss → STATUS_INVALID_ADDRESS + stderr.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>
                <a:solidFill>
                  <a:srgbClr val="F2A65A"/>
                </a:solidFill>
                <a:latin typeface="Consolas"/>
              </a:rPr>
              <a:t>■  </a:t>
            </a:r>
            <a:r>
              <a:rPr sz="1600">
                <a:solidFill>
                  <a:srgbClr val="0E1B32"/>
                </a:solidFill>
                <a:latin typeface="Calibri"/>
              </a:rPr>
              <a:t>Размер обращений: 1, 2 или 4 байта.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>
                <a:solidFill>
                  <a:srgbClr val="F2A65A"/>
                </a:solidFill>
                <a:latin typeface="Consolas"/>
              </a:rPr>
              <a:t>■  </a:t>
            </a:r>
            <a:r>
              <a:rPr sz="1600">
                <a:solidFill>
                  <a:srgbClr val="0E1B32"/>
                </a:solidFill>
                <a:latin typeface="Calibri"/>
              </a:rPr>
              <a:t>Ядро ходит в память ТОЛЬКО через bus_read / bus_write.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377440"/>
            <a:ext cx="27432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0" b="1" i="0">
                <a:solidFill>
                  <a:srgbClr val="F2A65A"/>
                </a:solidFill>
                <a:latin typeface="Cambria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274320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4EC9B0"/>
                </a:solidFill>
                <a:latin typeface="Consolas"/>
              </a:rPr>
              <a:t>// 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0" y="3108960"/>
            <a:ext cx="73152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Cambria"/>
              </a:rPr>
              <a:t>Периферия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40" y="5120640"/>
            <a:ext cx="1371600" cy="36576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A95A8"/>
                </a:solidFill>
                <a:latin typeface="Consolas"/>
              </a:rPr>
              <a:t>23 / 40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09760" y="27432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4A556B"/>
                </a:solidFill>
                <a:latin typeface="Consolas"/>
              </a:rPr>
              <a:t>0x40000000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A556B"/>
                </a:solidFill>
                <a:latin typeface="Consolas"/>
              </a:rPr>
              <a:t>STM32F103 Simulator · ИТМО · ПрВС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4A556B"/>
                </a:solidFill>
                <a:latin typeface="Consolas"/>
              </a:rPr>
              <a:t>24 /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029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E1B32"/>
                </a:solidFill>
                <a:latin typeface="Cambria"/>
              </a:rPr>
              <a:t>TIM2 — таймер общего назначения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640080" cy="45720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0E1B32"/>
                </a:solidFill>
                <a:latin typeface="Calibri"/>
              </a:rPr>
              <a:t>В timer.c CNT вычисляется не каждый такт, а через event-driven модель: переполнение планируется в EventQueue.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743200"/>
            <a:ext cx="1554480" cy="411480"/>
          </a:xfrm>
          <a:prstGeom prst="rect">
            <a:avLst/>
          </a:prstGeom>
          <a:solidFill>
            <a:srgbClr val="0B1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2816352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mbria"/>
              </a:rPr>
              <a:t>Смещение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57400" y="2743200"/>
            <a:ext cx="1554480" cy="411480"/>
          </a:xfrm>
          <a:prstGeom prst="rect">
            <a:avLst/>
          </a:prstGeom>
          <a:solidFill>
            <a:srgbClr val="0B1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67128" y="2816352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mbria"/>
              </a:rPr>
              <a:t>Регистр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11880" y="2743200"/>
            <a:ext cx="8046720" cy="411480"/>
          </a:xfrm>
          <a:prstGeom prst="rect">
            <a:avLst/>
          </a:prstGeom>
          <a:solidFill>
            <a:srgbClr val="0B1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21608" y="2816352"/>
            <a:ext cx="7863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mbria"/>
              </a:rPr>
              <a:t>Что делает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154680"/>
            <a:ext cx="11155680" cy="411480"/>
          </a:xfrm>
          <a:prstGeom prst="rect">
            <a:avLst/>
          </a:prstGeom>
          <a:solidFill>
            <a:srgbClr val="E8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3227832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2A65A"/>
                </a:solidFill>
                <a:latin typeface="Consolas"/>
              </a:rPr>
              <a:t>0x00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67128" y="3227832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E1B32"/>
                </a:solidFill>
                <a:latin typeface="Calibri"/>
              </a:rPr>
              <a:t>CR1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21608" y="3227832"/>
            <a:ext cx="7863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E1B32"/>
                </a:solidFill>
                <a:latin typeface="Calibri"/>
              </a:rPr>
              <a:t>включение/режим (бит CEN)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566160"/>
            <a:ext cx="11155680" cy="411480"/>
          </a:xfrm>
          <a:prstGeom prst="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" y="3639312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2A65A"/>
                </a:solidFill>
                <a:latin typeface="Consolas"/>
              </a:rPr>
              <a:t>0x0C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67128" y="3639312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E1B32"/>
                </a:solidFill>
                <a:latin typeface="Calibri"/>
              </a:rPr>
              <a:t>DIER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21608" y="3639312"/>
            <a:ext cx="7863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E1B32"/>
                </a:solidFill>
                <a:latin typeface="Calibri"/>
              </a:rPr>
              <a:t>разрешение прерываний (UIE)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977640"/>
            <a:ext cx="11155680" cy="411480"/>
          </a:xfrm>
          <a:prstGeom prst="rect">
            <a:avLst/>
          </a:prstGeom>
          <a:solidFill>
            <a:srgbClr val="E8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" y="4050792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2A65A"/>
                </a:solidFill>
                <a:latin typeface="Consolas"/>
              </a:rPr>
              <a:t>0x10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67128" y="4050792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E1B32"/>
                </a:solidFill>
                <a:latin typeface="Calibri"/>
              </a:rPr>
              <a:t>SR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21608" y="4050792"/>
            <a:ext cx="7863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E1B32"/>
                </a:solidFill>
                <a:latin typeface="Calibri"/>
              </a:rPr>
              <a:t>флаги; UIF — обновление; пишется как W0C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389120"/>
            <a:ext cx="11155680" cy="411480"/>
          </a:xfrm>
          <a:prstGeom prst="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" y="4462272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2A65A"/>
                </a:solidFill>
                <a:latin typeface="Consolas"/>
              </a:rPr>
              <a:t>0x24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67128" y="4462272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E1B32"/>
                </a:solidFill>
                <a:latin typeface="Calibri"/>
              </a:rPr>
              <a:t>CNT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21608" y="4462272"/>
            <a:ext cx="7863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E1B32"/>
                </a:solidFill>
                <a:latin typeface="Calibri"/>
              </a:rPr>
              <a:t>значение счётчика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800600"/>
            <a:ext cx="11155680" cy="411480"/>
          </a:xfrm>
          <a:prstGeom prst="rect">
            <a:avLst/>
          </a:prstGeom>
          <a:solidFill>
            <a:srgbClr val="E8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8" y="4873752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2A65A"/>
                </a:solidFill>
                <a:latin typeface="Consolas"/>
              </a:rPr>
              <a:t>0x28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67128" y="4873752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E1B32"/>
                </a:solidFill>
                <a:latin typeface="Calibri"/>
              </a:rPr>
              <a:t>PSC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21608" y="4873752"/>
            <a:ext cx="7863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E1B32"/>
                </a:solidFill>
                <a:latin typeface="Calibri"/>
              </a:rPr>
              <a:t>прескалер; период = (PSC+1) тактов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5212080"/>
            <a:ext cx="11155680" cy="411480"/>
          </a:xfrm>
          <a:prstGeom prst="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2648" y="5285232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2A65A"/>
                </a:solidFill>
                <a:latin typeface="Consolas"/>
              </a:rPr>
              <a:t>0x2C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67128" y="5285232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E1B32"/>
                </a:solidFill>
                <a:latin typeface="Calibri"/>
              </a:rPr>
              <a:t>ARR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21608" y="5285232"/>
            <a:ext cx="7863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E1B32"/>
                </a:solidFill>
                <a:latin typeface="Calibri"/>
              </a:rPr>
              <a:t>auto-reload; 0 или CEN=0 → CNT читается как 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09760" y="27432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4A556B"/>
                </a:solidFill>
                <a:latin typeface="Consolas"/>
              </a:rPr>
              <a:t>0x40013800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A556B"/>
                </a:solidFill>
                <a:latin typeface="Consolas"/>
              </a:rPr>
              <a:t>STM32F103 Simulator · ИТМО · ПрВС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4A556B"/>
                </a:solidFill>
                <a:latin typeface="Consolas"/>
              </a:rPr>
              <a:t>25 /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029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E1B32"/>
                </a:solidFill>
                <a:latin typeface="Cambria"/>
              </a:rPr>
              <a:t>USART1 — асинхронный приёмопередатчик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640080" cy="45720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0E1B32"/>
                </a:solidFill>
                <a:latin typeface="Calibri"/>
              </a:rPr>
              <a:t>В uart.c регистры на 0x40013800. TX «мгновенный»: запись в DR ставит tx_pending, следующий tick завершает передачу.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743200"/>
            <a:ext cx="36576" cy="347472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7432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E1B32"/>
                </a:solidFill>
                <a:latin typeface="Cambria"/>
              </a:rPr>
              <a:t>Передача (TX)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200400"/>
            <a:ext cx="5029200" cy="31089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>
                <a:solidFill>
                  <a:srgbClr val="4EC9B0"/>
                </a:solidFill>
                <a:latin typeface="Consolas"/>
              </a:rPr>
              <a:t>■  </a:t>
            </a:r>
            <a:r>
              <a:rPr sz="1400">
                <a:solidFill>
                  <a:srgbClr val="0E1B32"/>
                </a:solidFill>
                <a:latin typeface="Calibri"/>
              </a:rPr>
              <a:t>Запись в DR при UE=1 → сбрасывает TXE/TC.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>
                <a:solidFill>
                  <a:srgbClr val="4EC9B0"/>
                </a:solidFill>
                <a:latin typeface="Consolas"/>
              </a:rPr>
              <a:t>■  </a:t>
            </a:r>
            <a:r>
              <a:rPr sz="1400">
                <a:solidFill>
                  <a:srgbClr val="0E1B32"/>
                </a:solidFill>
                <a:latin typeface="Calibri"/>
              </a:rPr>
              <a:t>uart_tick: восстанавливает TXE|TC, вызывает output_fn.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>
                <a:solidFill>
                  <a:srgbClr val="4EC9B0"/>
                </a:solidFill>
                <a:latin typeface="Consolas"/>
              </a:rPr>
              <a:t>■  </a:t>
            </a:r>
            <a:r>
              <a:rPr sz="1400">
                <a:solidFill>
                  <a:srgbClr val="0E1B32"/>
                </a:solidFill>
                <a:latin typeface="Calibri"/>
              </a:rPr>
              <a:t>При TXEIE+UE — nvic_set_pending после передачи.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2743200"/>
            <a:ext cx="36576" cy="3474720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74320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E1B32"/>
                </a:solidFill>
                <a:latin typeface="Cambria"/>
              </a:rPr>
              <a:t>Приём (RX)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3200400"/>
            <a:ext cx="5212080" cy="31089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>
                <a:solidFill>
                  <a:srgbClr val="F2A65A"/>
                </a:solidFill>
                <a:latin typeface="Consolas"/>
              </a:rPr>
              <a:t>■  </a:t>
            </a:r>
            <a:r>
              <a:rPr sz="1400">
                <a:solidFill>
                  <a:srgbClr val="0E1B32"/>
                </a:solidFill>
                <a:latin typeface="Calibri"/>
              </a:rPr>
              <a:t>Кольцо на 16 байт.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>
                <a:solidFill>
                  <a:srgbClr val="F2A65A"/>
                </a:solidFill>
                <a:latin typeface="Consolas"/>
              </a:rPr>
              <a:t>■  </a:t>
            </a:r>
            <a:r>
              <a:rPr sz="1400">
                <a:solidFill>
                  <a:srgbClr val="0E1B32"/>
                </a:solidFill>
                <a:latin typeface="Calibri"/>
              </a:rPr>
              <a:t>RXNE сбрасывается, когда буфер пуст.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>
                <a:solidFill>
                  <a:srgbClr val="F2A65A"/>
                </a:solidFill>
                <a:latin typeface="Consolas"/>
              </a:rPr>
              <a:t>■  </a:t>
            </a:r>
            <a:r>
              <a:rPr sz="1400">
                <a:solidFill>
                  <a:srgbClr val="0E1B32"/>
                </a:solidFill>
                <a:latin typeface="Calibri"/>
              </a:rPr>
              <a:t>uart_incoming_char и RXNEIE+UE → IRQ.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09760" y="27432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4A556B"/>
                </a:solidFill>
                <a:latin typeface="Consolas"/>
              </a:rPr>
              <a:t>uart_diagram.svg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A556B"/>
                </a:solidFill>
                <a:latin typeface="Consolas"/>
              </a:rPr>
              <a:t>STM32F103 Simulator · ИТМО · ПрВС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4A556B"/>
                </a:solidFill>
                <a:latin typeface="Consolas"/>
              </a:rPr>
              <a:t>26 /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029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E1B32"/>
                </a:solidFill>
                <a:latin typeface="Cambria"/>
              </a:rPr>
              <a:t>UART — реальная диаграмма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640080" cy="45720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0E1B32"/>
                </a:solidFill>
                <a:latin typeface="Calibri"/>
              </a:rPr>
              <a:t>На остановке симуляции gdb_stub пишет файл uart_diagram.html. Полезно показать «что реально шёл байт за байтом».</a:t>
            </a:r>
          </a:p>
        </p:txBody>
      </p:sp>
      <p:pic>
        <p:nvPicPr>
          <p:cNvPr id="9" name="Picture 8" descr="uart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697480"/>
            <a:ext cx="7607808" cy="23774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594360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4A556B"/>
                </a:solidFill>
                <a:latin typeface="Calibri"/>
              </a:rPr>
              <a:t>Каждый столбик — символ на TX. Ось снизу — такты симуляции.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09760" y="27432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4A556B"/>
                </a:solidFill>
                <a:latin typeface="Consolas"/>
              </a:rPr>
              <a:t>GPIO[A..E]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A556B"/>
                </a:solidFill>
                <a:latin typeface="Consolas"/>
              </a:rPr>
              <a:t>STM32F103 Simulator · ИТМО · ПрВС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4A556B"/>
                </a:solidFill>
                <a:latin typeface="Consolas"/>
              </a:rPr>
              <a:t>27 /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029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E1B32"/>
                </a:solidFill>
                <a:latin typeface="Cambria"/>
              </a:rPr>
              <a:t>GPIO — пять портов A…E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640080" cy="45720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0E1B32"/>
                </a:solidFill>
                <a:latin typeface="Calibri"/>
              </a:rPr>
              <a:t>В gpio.c каждый порт — отдельный экземпляр Peripheral с одинаковыми регистрами.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743200"/>
            <a:ext cx="1463040" cy="411480"/>
          </a:xfrm>
          <a:prstGeom prst="rect">
            <a:avLst/>
          </a:prstGeom>
          <a:solidFill>
            <a:srgbClr val="0B1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2816352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mbria"/>
              </a:rPr>
              <a:t>Порт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65960" y="2743200"/>
            <a:ext cx="2286000" cy="411480"/>
          </a:xfrm>
          <a:prstGeom prst="rect">
            <a:avLst/>
          </a:prstGeom>
          <a:solidFill>
            <a:srgbClr val="0B1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75688" y="2816352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mbria"/>
              </a:rPr>
              <a:t>База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2743200"/>
            <a:ext cx="7406640" cy="411480"/>
          </a:xfrm>
          <a:prstGeom prst="rect">
            <a:avLst/>
          </a:prstGeom>
          <a:solidFill>
            <a:srgbClr val="0B1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61688" y="2816352"/>
            <a:ext cx="722375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mbria"/>
              </a:rPr>
              <a:t>Что внутри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154680"/>
            <a:ext cx="11155680" cy="411480"/>
          </a:xfrm>
          <a:prstGeom prst="rect">
            <a:avLst/>
          </a:prstGeom>
          <a:solidFill>
            <a:srgbClr val="E8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3227832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2A65A"/>
                </a:solidFill>
                <a:latin typeface="Consolas"/>
              </a:rPr>
              <a:t>GPIOA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75688" y="3227832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E1B32"/>
                </a:solidFill>
                <a:latin typeface="Calibri"/>
              </a:rPr>
              <a:t>0x40010800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61688" y="3227832"/>
            <a:ext cx="722375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E1B32"/>
                </a:solidFill>
                <a:latin typeface="Calibri"/>
              </a:rPr>
              <a:t>IDR, ODR, BSRR, BRR, CRL, CRH, LCKR (stub)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566160"/>
            <a:ext cx="11155680" cy="411480"/>
          </a:xfrm>
          <a:prstGeom prst="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" y="3639312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2A65A"/>
                </a:solidFill>
                <a:latin typeface="Consolas"/>
              </a:rPr>
              <a:t>GPIOB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75688" y="3639312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E1B32"/>
                </a:solidFill>
                <a:latin typeface="Calibri"/>
              </a:rPr>
              <a:t>0x40010C00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61688" y="3639312"/>
            <a:ext cx="722375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E1B32"/>
                </a:solidFill>
                <a:latin typeface="Calibri"/>
              </a:rPr>
              <a:t>то же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977640"/>
            <a:ext cx="11155680" cy="411480"/>
          </a:xfrm>
          <a:prstGeom prst="rect">
            <a:avLst/>
          </a:prstGeom>
          <a:solidFill>
            <a:srgbClr val="E8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" y="4050792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2A65A"/>
                </a:solidFill>
                <a:latin typeface="Consolas"/>
              </a:rPr>
              <a:t>GPIOC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75688" y="4050792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E1B32"/>
                </a:solidFill>
                <a:latin typeface="Calibri"/>
              </a:rPr>
              <a:t>0x40011000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61688" y="4050792"/>
            <a:ext cx="722375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E1B32"/>
                </a:solidFill>
                <a:latin typeface="Calibri"/>
              </a:rPr>
              <a:t>PC13 — встроенный светодиод Blue Pill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389120"/>
            <a:ext cx="11155680" cy="411480"/>
          </a:xfrm>
          <a:prstGeom prst="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" y="4462272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2A65A"/>
                </a:solidFill>
                <a:latin typeface="Consolas"/>
              </a:rPr>
              <a:t>GPIOD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75688" y="4462272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E1B32"/>
                </a:solidFill>
                <a:latin typeface="Calibri"/>
              </a:rPr>
              <a:t>0x40011400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1688" y="4462272"/>
            <a:ext cx="722375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E1B32"/>
                </a:solidFill>
                <a:latin typeface="Calibri"/>
              </a:rPr>
              <a:t>то же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800600"/>
            <a:ext cx="11155680" cy="411480"/>
          </a:xfrm>
          <a:prstGeom prst="rect">
            <a:avLst/>
          </a:prstGeom>
          <a:solidFill>
            <a:srgbClr val="E8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8" y="4873752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2A65A"/>
                </a:solidFill>
                <a:latin typeface="Consolas"/>
              </a:rPr>
              <a:t>GPIOE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75688" y="4873752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E1B32"/>
                </a:solidFill>
                <a:latin typeface="Calibri"/>
              </a:rPr>
              <a:t>0x40011800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61688" y="4873752"/>
            <a:ext cx="722375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E1B32"/>
                </a:solidFill>
                <a:latin typeface="Calibri"/>
              </a:rPr>
              <a:t>то же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09760" y="27432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4A556B"/>
                </a:solidFill>
                <a:latin typeface="Consolas"/>
              </a:rPr>
              <a:t>// stub-ish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A556B"/>
                </a:solidFill>
                <a:latin typeface="Consolas"/>
              </a:rPr>
              <a:t>STM32F103 Simulator · ИТМО · ПрВС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4A556B"/>
                </a:solidFill>
                <a:latin typeface="Consolas"/>
              </a:rPr>
              <a:t>28 /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029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E1B32"/>
                </a:solidFill>
                <a:latin typeface="Cambria"/>
              </a:rPr>
              <a:t>RCC и SysTick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640080" cy="45720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0E1B32"/>
                </a:solidFill>
                <a:latin typeface="Calibri"/>
              </a:rPr>
              <a:t>Тактирование и системный таймер реализованы как «честные заглушки»: регистры читаются и пишутся корректно, но без модели частоты.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743200"/>
            <a:ext cx="36576" cy="347472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7432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E1B32"/>
                </a:solidFill>
                <a:latin typeface="Cambria"/>
              </a:rPr>
              <a:t>RCC · 0x40021000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200400"/>
            <a:ext cx="5029200" cy="31089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>
                <a:solidFill>
                  <a:srgbClr val="4EC9B0"/>
                </a:solidFill>
                <a:latin typeface="Consolas"/>
              </a:rPr>
              <a:t>■  </a:t>
            </a:r>
            <a:r>
              <a:rPr sz="1400">
                <a:solidFill>
                  <a:srgbClr val="0E1B32"/>
                </a:solidFill>
                <a:latin typeface="Calibri"/>
              </a:rPr>
              <a:t>10 регистров: CR, CFGR, CIR, ..., CSR.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>
                <a:solidFill>
                  <a:srgbClr val="4EC9B0"/>
                </a:solidFill>
                <a:latin typeface="Consolas"/>
              </a:rPr>
              <a:t>■  </a:t>
            </a:r>
            <a:r>
              <a:rPr sz="1400">
                <a:solidFill>
                  <a:srgbClr val="0E1B32"/>
                </a:solidFill>
                <a:latin typeface="Calibri"/>
              </a:rPr>
              <a:t>SWS отслеживает SW (выбор источника).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>
                <a:solidFill>
                  <a:srgbClr val="4EC9B0"/>
                </a:solidFill>
                <a:latin typeface="Consolas"/>
              </a:rPr>
              <a:t>■  </a:t>
            </a:r>
            <a:r>
              <a:rPr sz="1400">
                <a:solidFill>
                  <a:srgbClr val="0E1B32"/>
                </a:solidFill>
                <a:latin typeface="Calibri"/>
              </a:rPr>
              <a:t>READY-биты повторяют ENABLE-биты.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>
                <a:solidFill>
                  <a:srgbClr val="4EC9B0"/>
                </a:solidFill>
                <a:latin typeface="Consolas"/>
              </a:rPr>
              <a:t>■  </a:t>
            </a:r>
            <a:r>
              <a:rPr sz="1400">
                <a:solidFill>
                  <a:srgbClr val="0E1B32"/>
                </a:solidFill>
                <a:latin typeface="Calibri"/>
              </a:rPr>
              <a:t>Доступ только по 4-байтному выравниванию.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2743200"/>
            <a:ext cx="36576" cy="3474720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74320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E1B32"/>
                </a:solidFill>
                <a:latin typeface="Cambria"/>
              </a:rPr>
              <a:t>SysTick · 0xE000E010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3200400"/>
            <a:ext cx="5212080" cy="31089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>
                <a:solidFill>
                  <a:srgbClr val="F2A65A"/>
                </a:solidFill>
                <a:latin typeface="Consolas"/>
              </a:rPr>
              <a:t>■  </a:t>
            </a:r>
            <a:r>
              <a:rPr sz="1400">
                <a:solidFill>
                  <a:srgbClr val="0E1B32"/>
                </a:solidFill>
                <a:latin typeface="Calibri"/>
              </a:rPr>
              <a:t>16 байт: CSR, RVR, CVR, CALIB.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>
                <a:solidFill>
                  <a:srgbClr val="F2A65A"/>
                </a:solidFill>
                <a:latin typeface="Consolas"/>
              </a:rPr>
              <a:t>■  </a:t>
            </a:r>
            <a:r>
              <a:rPr sz="1400">
                <a:solidFill>
                  <a:srgbClr val="0E1B32"/>
                </a:solidFill>
                <a:latin typeface="Calibri"/>
              </a:rPr>
              <a:t>24-битная маска значений RVR/CVR.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>
                <a:solidFill>
                  <a:srgbClr val="F2A65A"/>
                </a:solidFill>
                <a:latin typeface="Consolas"/>
              </a:rPr>
              <a:t>■  </a:t>
            </a:r>
            <a:r>
              <a:rPr sz="1400">
                <a:solidFill>
                  <a:srgbClr val="0E1B32"/>
                </a:solidFill>
                <a:latin typeface="Calibri"/>
              </a:rPr>
              <a:t>COUNTFLAG сбрасывается при чтении CSR.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>
                <a:solidFill>
                  <a:srgbClr val="F2A65A"/>
                </a:solidFill>
                <a:latin typeface="Consolas"/>
              </a:rPr>
              <a:t>■  </a:t>
            </a:r>
            <a:r>
              <a:rPr sz="1400">
                <a:solidFill>
                  <a:srgbClr val="0E1B32"/>
                </a:solidFill>
                <a:latin typeface="Calibri"/>
              </a:rPr>
              <a:t>TICKINT → отдельная линия прерывания через NVIC.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09760" y="27432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4A556B"/>
                </a:solidFill>
                <a:latin typeface="Consolas"/>
              </a:rPr>
              <a:t>peripherals/peripheral.h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A556B"/>
                </a:solidFill>
                <a:latin typeface="Consolas"/>
              </a:rPr>
              <a:t>STM32F103 Simulator · ИТМО · ПрВС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4A556B"/>
                </a:solidFill>
                <a:latin typeface="Consolas"/>
              </a:rPr>
              <a:t>29 /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029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E1B32"/>
                </a:solidFill>
                <a:latin typeface="Cambria"/>
              </a:rPr>
              <a:t>Как добавить новую периферию (vtable в чистом C)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70432"/>
            <a:ext cx="640080" cy="45720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0E1B32"/>
                </a:solidFill>
                <a:latin typeface="Calibri"/>
              </a:rPr>
              <a:t>Новая периферия — это структура Peripheral с указателями на 4 функции. Симулятор регистрирует её на шине; существующий код не трогаем (Open/Closed).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423160"/>
            <a:ext cx="11155680" cy="3840480"/>
          </a:xfrm>
          <a:prstGeom prst="rect">
            <a:avLst/>
          </a:prstGeom>
          <a:solidFill>
            <a:srgbClr val="10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06040"/>
            <a:ext cx="1069848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EC9B0"/>
                </a:solidFill>
                <a:latin typeface="Consolas"/>
              </a:rPr>
              <a:t>typedef struct {
    void*    ctx;                                                              /* ваше состояние */
    uint32_t (*read )(void* ctx, uint32_t offset, uint8_t size);                /* чтение регистра */
    Status   (*write)(void* ctx, uint32_t offset, uint32_t value, uint8_t size);/* запись регистра */
    void     (*tick )(void* ctx);                                              /* такт симуляции */
    void     (*reset)(void* ctx);                                              /* сброс */
} Peripheral;
/* В simulator.c: */
simulator_add_peripheral(&amp;sim, MY_DEV_BASE, MY_DEV_SIZE, my_dev_as_peripheral(&amp;dev));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231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FCB91"/>
                </a:solidFill>
                <a:latin typeface="Consolas"/>
              </a:rPr>
              <a:t>$ shell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377440"/>
            <a:ext cx="27432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0" b="1" i="0">
                <a:solidFill>
                  <a:srgbClr val="F2A65A"/>
                </a:solidFill>
                <a:latin typeface="Cambria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274320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4EC9B0"/>
                </a:solidFill>
                <a:latin typeface="Consolas"/>
              </a:rPr>
              <a:t>// 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0" y="3108960"/>
            <a:ext cx="73152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Cambria"/>
              </a:rPr>
              <a:t>Отладка и пользование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40" y="5120640"/>
            <a:ext cx="1371600" cy="36576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A95A8"/>
                </a:solidFill>
                <a:latin typeface="Consolas"/>
              </a:rPr>
              <a:t>30 / 40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09760" y="27432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4A556B"/>
                </a:solidFill>
                <a:latin typeface="Consolas"/>
              </a:rPr>
              <a:t>ui_run()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A556B"/>
                </a:solidFill>
                <a:latin typeface="Consolas"/>
              </a:rPr>
              <a:t>STM32F103 Simulator · ИТМО · ПрВС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4A556B"/>
                </a:solidFill>
                <a:latin typeface="Consolas"/>
              </a:rPr>
              <a:t>31 /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029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E1B32"/>
                </a:solidFill>
                <a:latin typeface="Cambria"/>
              </a:rPr>
              <a:t>CLI — 15 интерактивных команд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640080" cy="45720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0E1B32"/>
                </a:solidFill>
                <a:latin typeface="Calibri"/>
              </a:rPr>
              <a:t>В ui.c таблица commands[] перечисляет все команды; ui_run читает строку и диспатчит её на обработчик. Парсинг адресов через strtoul base=0 — поддерживает 0x-нотацию.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743200"/>
            <a:ext cx="11155680" cy="36576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>
                <a:solidFill>
                  <a:srgbClr val="F2A65A"/>
                </a:solidFill>
                <a:latin typeface="Consolas"/>
              </a:rPr>
              <a:t>■  </a:t>
            </a:r>
            <a:r>
              <a:rPr sz="1600">
                <a:solidFill>
                  <a:srgbClr val="0E1B32"/>
                </a:solidFill>
                <a:latin typeface="Calibri"/>
              </a:rPr>
              <a:t>help, quit — справка и выход.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>
                <a:solidFill>
                  <a:srgbClr val="F2A65A"/>
                </a:solidFill>
                <a:latin typeface="Consolas"/>
              </a:rPr>
              <a:t>■  </a:t>
            </a:r>
            <a:r>
              <a:rPr sz="1600">
                <a:solidFill>
                  <a:srgbClr val="0E1B32"/>
                </a:solidFill>
                <a:latin typeface="Calibri"/>
              </a:rPr>
              <a:t>load &lt;путь&gt; — загрузить .bin во Flash.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>
                <a:solidFill>
                  <a:srgbClr val="F2A65A"/>
                </a:solidFill>
                <a:latin typeface="Consolas"/>
              </a:rPr>
              <a:t>■  </a:t>
            </a:r>
            <a:r>
              <a:rPr sz="1600">
                <a:solidFill>
                  <a:srgbClr val="0E1B32"/>
                </a:solidFill>
                <a:latin typeface="Calibri"/>
              </a:rPr>
              <a:t>run / stop — продолжить / приостановить симуляцию до breakpoint.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>
                <a:solidFill>
                  <a:srgbClr val="F2A65A"/>
                </a:solidFill>
                <a:latin typeface="Consolas"/>
              </a:rPr>
              <a:t>■  </a:t>
            </a:r>
            <a:r>
              <a:rPr sz="1600">
                <a:solidFill>
                  <a:srgbClr val="0E1B32"/>
                </a:solidFill>
                <a:latin typeface="Calibri"/>
              </a:rPr>
              <a:t>step [N] — выполнить N инструкций.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>
                <a:solidFill>
                  <a:srgbClr val="F2A65A"/>
                </a:solidFill>
                <a:latin typeface="Consolas"/>
              </a:rPr>
              <a:t>■  </a:t>
            </a:r>
            <a:r>
              <a:rPr sz="1600">
                <a:solidFill>
                  <a:srgbClr val="0E1B32"/>
                </a:solidFill>
                <a:latin typeface="Calibri"/>
              </a:rPr>
              <a:t>reset — full reset (NVIC + память + события).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>
                <a:solidFill>
                  <a:srgbClr val="F2A65A"/>
                </a:solidFill>
                <a:latin typeface="Consolas"/>
              </a:rPr>
              <a:t>■  </a:t>
            </a:r>
            <a:r>
              <a:rPr sz="1600">
                <a:solidFill>
                  <a:srgbClr val="0E1B32"/>
                </a:solidFill>
                <a:latin typeface="Calibri"/>
              </a:rPr>
              <a:t>reg / mem &lt;addr&gt; [count] — регистры и hex-дамп памяти.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>
                <a:solidFill>
                  <a:srgbClr val="F2A65A"/>
                </a:solidFill>
                <a:latin typeface="Consolas"/>
              </a:rPr>
              <a:t>■  </a:t>
            </a:r>
            <a:r>
              <a:rPr sz="1600">
                <a:solidFill>
                  <a:srgbClr val="0E1B32"/>
                </a:solidFill>
                <a:latin typeface="Calibri"/>
              </a:rPr>
              <a:t>break &lt;addr&gt; / delete &lt;addr&gt; — точки останова.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>
                <a:solidFill>
                  <a:srgbClr val="F2A65A"/>
                </a:solidFill>
                <a:latin typeface="Consolas"/>
              </a:rPr>
              <a:t>■  </a:t>
            </a:r>
            <a:r>
              <a:rPr sz="1600">
                <a:solidFill>
                  <a:srgbClr val="0E1B32"/>
                </a:solidFill>
                <a:latin typeface="Calibri"/>
              </a:rPr>
              <a:t>uart &lt;char&gt;, diagram, diagram-save, profile — телеметрия и измерения.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09760" y="27432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4A556B"/>
                </a:solidFill>
                <a:latin typeface="Consolas"/>
              </a:rPr>
              <a:t>TCP :3333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A556B"/>
                </a:solidFill>
                <a:latin typeface="Consolas"/>
              </a:rPr>
              <a:t>STM32F103 Simulator · ИТМО · ПрВС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4A556B"/>
                </a:solidFill>
                <a:latin typeface="Consolas"/>
              </a:rPr>
              <a:t>32 /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029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E1B32"/>
                </a:solidFill>
                <a:latin typeface="Cambria"/>
              </a:rPr>
              <a:t>GDB Remote Serial Protocol — что поддерживаем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640080" cy="45720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0E1B32"/>
                </a:solidFill>
                <a:latin typeface="Calibri"/>
              </a:rPr>
              <a:t>gdb_stub.c — TCP-сервер на порту 3333. После accept крутится rsp_session; команды бьются на пакеты со стандартным CRC.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743200"/>
            <a:ext cx="1828800" cy="411480"/>
          </a:xfrm>
          <a:prstGeom prst="rect">
            <a:avLst/>
          </a:prstGeom>
          <a:solidFill>
            <a:srgbClr val="0B1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2816352"/>
            <a:ext cx="1645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mbria"/>
              </a:rPr>
              <a:t>Пакет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2743200"/>
            <a:ext cx="3657600" cy="411480"/>
          </a:xfrm>
          <a:prstGeom prst="rect">
            <a:avLst/>
          </a:prstGeom>
          <a:solidFill>
            <a:srgbClr val="0B1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41448" y="2816352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mbria"/>
              </a:rPr>
              <a:t>Действие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89320" y="2743200"/>
            <a:ext cx="5943600" cy="411480"/>
          </a:xfrm>
          <a:prstGeom prst="rect">
            <a:avLst/>
          </a:prstGeom>
          <a:solidFill>
            <a:srgbClr val="0B1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8" y="2816352"/>
            <a:ext cx="5760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mbria"/>
              </a:rPr>
              <a:t>Реализация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154680"/>
            <a:ext cx="11430000" cy="411480"/>
          </a:xfrm>
          <a:prstGeom prst="rect">
            <a:avLst/>
          </a:prstGeom>
          <a:solidFill>
            <a:srgbClr val="E8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3227832"/>
            <a:ext cx="1645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2A65A"/>
                </a:solidFill>
                <a:latin typeface="Consolas"/>
              </a:rPr>
              <a:t>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41448" y="3227832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E1B32"/>
                </a:solidFill>
                <a:latin typeface="Calibri"/>
              </a:rPr>
              <a:t>стоп-причина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9048" y="3227832"/>
            <a:ext cx="5760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E1B32"/>
                </a:solidFill>
                <a:latin typeface="Calibri"/>
              </a:rPr>
              <a:t>S05 (trap)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566160"/>
            <a:ext cx="11430000" cy="411480"/>
          </a:xfrm>
          <a:prstGeom prst="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" y="3639312"/>
            <a:ext cx="1645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2A65A"/>
                </a:solidFill>
                <a:latin typeface="Consolas"/>
              </a:rPr>
              <a:t>g / 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41448" y="3639312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E1B32"/>
                </a:solidFill>
                <a:latin typeface="Calibri"/>
              </a:rPr>
              <a:t>все регистры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9048" y="3639312"/>
            <a:ext cx="5760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E1B32"/>
                </a:solidFill>
                <a:latin typeface="Calibri"/>
              </a:rPr>
              <a:t>из CoreState.r[]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977640"/>
            <a:ext cx="11430000" cy="411480"/>
          </a:xfrm>
          <a:prstGeom prst="rect">
            <a:avLst/>
          </a:prstGeom>
          <a:solidFill>
            <a:srgbClr val="E8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" y="4050792"/>
            <a:ext cx="1645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2A65A"/>
                </a:solidFill>
                <a:latin typeface="Consolas"/>
              </a:rPr>
              <a:t>m / 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41448" y="4050792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E1B32"/>
                </a:solidFill>
                <a:latin typeface="Calibri"/>
              </a:rPr>
              <a:t>память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9048" y="4050792"/>
            <a:ext cx="5760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E1B32"/>
                </a:solidFill>
                <a:latin typeface="Calibri"/>
              </a:rPr>
              <a:t>bus_read / bus_write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389120"/>
            <a:ext cx="11430000" cy="411480"/>
          </a:xfrm>
          <a:prstGeom prst="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" y="4462272"/>
            <a:ext cx="1645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2A65A"/>
                </a:solidFill>
                <a:latin typeface="Consolas"/>
              </a:rPr>
              <a:t>c / 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41448" y="4462272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E1B32"/>
                </a:solidFill>
                <a:latin typeface="Calibri"/>
              </a:rPr>
              <a:t>continue / step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9048" y="4462272"/>
            <a:ext cx="5760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E1B32"/>
                </a:solidFill>
                <a:latin typeface="Calibri"/>
              </a:rPr>
              <a:t>simulator_step + Ctrl+C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800600"/>
            <a:ext cx="11430000" cy="411480"/>
          </a:xfrm>
          <a:prstGeom prst="rect">
            <a:avLst/>
          </a:prstGeom>
          <a:solidFill>
            <a:srgbClr val="E8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8" y="4873752"/>
            <a:ext cx="1645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2A65A"/>
                </a:solidFill>
                <a:latin typeface="Consolas"/>
              </a:rPr>
              <a:t>Z / z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41448" y="4873752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E1B32"/>
                </a:solidFill>
                <a:latin typeface="Calibri"/>
              </a:rPr>
              <a:t>программный breakpoint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99048" y="4873752"/>
            <a:ext cx="5760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E1B32"/>
                </a:solidFill>
                <a:latin typeface="Calibri"/>
              </a:rPr>
              <a:t>debugger_add_breakpoint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5212080"/>
            <a:ext cx="11430000" cy="411480"/>
          </a:xfrm>
          <a:prstGeom prst="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2648" y="5285232"/>
            <a:ext cx="1645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2A65A"/>
                </a:solidFill>
                <a:latin typeface="Consolas"/>
              </a:rPr>
              <a:t>qSupported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41448" y="5285232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E1B32"/>
                </a:solidFill>
                <a:latin typeface="Calibri"/>
              </a:rPr>
              <a:t>возможности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99048" y="5285232"/>
            <a:ext cx="5760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E1B32"/>
                </a:solidFill>
                <a:latin typeface="Calibri"/>
              </a:rPr>
              <a:t>PacketSize=1000;qXfer:features:read+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5623560"/>
            <a:ext cx="11430000" cy="411480"/>
          </a:xfrm>
          <a:prstGeom prst="rect">
            <a:avLst/>
          </a:prstGeom>
          <a:solidFill>
            <a:srgbClr val="E8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2648" y="5696712"/>
            <a:ext cx="1645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2A65A"/>
                </a:solidFill>
                <a:latin typeface="Consolas"/>
              </a:rPr>
              <a:t>qRcmd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41448" y="5696712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E1B32"/>
                </a:solidFill>
                <a:latin typeface="Calibri"/>
              </a:rPr>
              <a:t>monitor-команды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99048" y="5696712"/>
            <a:ext cx="5760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E1B32"/>
                </a:solidFill>
                <a:latin typeface="Calibri"/>
              </a:rPr>
              <a:t>halt, reset, uart-diagram, uart-svg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09760" y="27432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4A556B"/>
                </a:solidFill>
                <a:latin typeface="Consolas"/>
              </a:rPr>
              <a:t>make · gdb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A556B"/>
                </a:solidFill>
                <a:latin typeface="Consolas"/>
              </a:rPr>
              <a:t>STM32F103 Simulator · ИТМО · ПрВС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4A556B"/>
                </a:solidFill>
                <a:latin typeface="Consolas"/>
              </a:rPr>
              <a:t>33 /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029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E1B32"/>
                </a:solidFill>
                <a:latin typeface="Cambria"/>
              </a:rPr>
              <a:t>Как запустить и как подключиться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70432"/>
            <a:ext cx="640080" cy="45720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0E1B32"/>
                </a:solidFill>
                <a:latin typeface="Calibri"/>
              </a:rPr>
              <a:t>Стандартные команды для защиты: соберите симулятор, прогоните тесты, запустите прошивку, при желании подключите GDB.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423160"/>
            <a:ext cx="11155680" cy="3840480"/>
          </a:xfrm>
          <a:prstGeom prst="rect">
            <a:avLst/>
          </a:prstGeom>
          <a:solidFill>
            <a:srgbClr val="10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06040"/>
            <a:ext cx="1069848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EC9B0"/>
                </a:solidFill>
                <a:latin typeface="Consolas"/>
              </a:rPr>
              <a:t># Сборка
$ cd src
$ make
# Тесты
$ make test
# Запуск с прошивкой
$ ./stm32sim ../examples/firmware.bin
# Запуск с GDB-сервером
$ ./stm32sim ../examples/firmware.bin --gdb 3333
# В другом терминале:
$ arm-none-eabi-gdb ../examples/firmware.elf
(gdb) target remote :3333
(gdb) break main
(gdb) continue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231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FCB91"/>
                </a:solidFill>
                <a:latin typeface="Consolas"/>
              </a:rPr>
              <a:t>$ shell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377440"/>
            <a:ext cx="27432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0" b="1" i="0">
                <a:solidFill>
                  <a:srgbClr val="F2A65A"/>
                </a:solidFill>
                <a:latin typeface="Cambria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274320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4EC9B0"/>
                </a:solidFill>
                <a:latin typeface="Consolas"/>
              </a:rPr>
              <a:t>// 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0" y="3108960"/>
            <a:ext cx="73152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Cambria"/>
              </a:rPr>
              <a:t>Тестирование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40" y="5120640"/>
            <a:ext cx="1371600" cy="36576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A95A8"/>
                </a:solidFill>
                <a:latin typeface="Consolas"/>
              </a:rPr>
              <a:t>34 / 40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09760" y="27432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4A556B"/>
                </a:solidFill>
                <a:latin typeface="Consolas"/>
              </a:rPr>
              <a:t>src/tests/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A556B"/>
                </a:solidFill>
                <a:latin typeface="Consolas"/>
              </a:rPr>
              <a:t>STM32F103 Simulator · ИТМО · ПрВС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4A556B"/>
                </a:solidFill>
                <a:latin typeface="Consolas"/>
              </a:rPr>
              <a:t>35 /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029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E1B32"/>
                </a:solidFill>
                <a:latin typeface="Cambria"/>
              </a:rPr>
              <a:t>11 наборов тестов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640080" cy="45720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0E1B32"/>
                </a:solidFill>
                <a:latin typeface="Calibri"/>
              </a:rPr>
              <a:t>Драйвер test_main.c вызывает наборы по очереди и считает pass/fail. Помощники в test.h: ASSERT_EQ, ASSERT_EQ64, RUN_TEST, TEST_SUITE.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834640"/>
            <a:ext cx="4572000" cy="3291840"/>
          </a:xfrm>
          <a:prstGeom prst="rect">
            <a:avLst/>
          </a:prstGeom>
          <a:solidFill>
            <a:srgbClr val="0B1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CB91"/>
                </a:solidFill>
                <a:latin typeface="Consolas"/>
              </a:rPr>
              <a:t>// stat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46120"/>
            <a:ext cx="429768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0" b="1" i="0">
                <a:solidFill>
                  <a:srgbClr val="F2A65A"/>
                </a:solidFill>
                <a:latin typeface="Cambria"/>
              </a:rPr>
              <a:t>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532120"/>
            <a:ext cx="4297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C2D4EE"/>
                </a:solidFill>
                <a:latin typeface="Calibri"/>
              </a:rPr>
              <a:t>файлов tests/test_*.c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2834640"/>
            <a:ext cx="6400800" cy="36576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>
                <a:solidFill>
                  <a:srgbClr val="F2A65A"/>
                </a:solidFill>
                <a:latin typeface="Consolas"/>
              </a:rPr>
              <a:t>■  </a:t>
            </a:r>
            <a:r>
              <a:rPr sz="1600">
                <a:solidFill>
                  <a:srgbClr val="0E1B32"/>
                </a:solidFill>
                <a:latin typeface="Calibri"/>
              </a:rPr>
              <a:t>test_core — Thumb MOV/ADD/CMP, ветви, LDR/STR, PUSH/POP, MUL.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>
                <a:solidFill>
                  <a:srgbClr val="F2A65A"/>
                </a:solidFill>
                <a:latin typeface="Consolas"/>
              </a:rPr>
              <a:t>■  </a:t>
            </a:r>
            <a:r>
              <a:rPr sz="1600">
                <a:solidFill>
                  <a:srgbClr val="0E1B32"/>
                </a:solidFill>
                <a:latin typeface="Calibri"/>
              </a:rPr>
              <a:t>test_nvic — pending/enable/priority/acknowledge/clear.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>
                <a:solidFill>
                  <a:srgbClr val="F2A65A"/>
                </a:solidFill>
                <a:latin typeface="Consolas"/>
              </a:rPr>
              <a:t>■  </a:t>
            </a:r>
            <a:r>
              <a:rPr sz="1600">
                <a:solidFill>
                  <a:srgbClr val="0E1B32"/>
                </a:solidFill>
                <a:latin typeface="Calibri"/>
              </a:rPr>
              <a:t>test_memory, test_bus — границы и роутинг.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>
                <a:solidFill>
                  <a:srgbClr val="F2A65A"/>
                </a:solidFill>
                <a:latin typeface="Consolas"/>
              </a:rPr>
              <a:t>■  </a:t>
            </a:r>
            <a:r>
              <a:rPr sz="1600">
                <a:solidFill>
                  <a:srgbClr val="0E1B32"/>
                </a:solidFill>
                <a:latin typeface="Calibri"/>
              </a:rPr>
              <a:t>test_timer, test_systick — countdown, прерывания.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>
                <a:solidFill>
                  <a:srgbClr val="F2A65A"/>
                </a:solidFill>
                <a:latin typeface="Consolas"/>
              </a:rPr>
              <a:t>■  </a:t>
            </a:r>
            <a:r>
              <a:rPr sz="1600">
                <a:solidFill>
                  <a:srgbClr val="0E1B32"/>
                </a:solidFill>
                <a:latin typeface="Calibri"/>
              </a:rPr>
              <a:t>test_rcc, test_gpio, test_uart — регистры периферии.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>
                <a:solidFill>
                  <a:srgbClr val="F2A65A"/>
                </a:solidFill>
                <a:latin typeface="Consolas"/>
              </a:rPr>
              <a:t>■  </a:t>
            </a:r>
            <a:r>
              <a:rPr sz="1600">
                <a:solidFill>
                  <a:srgbClr val="0E1B32"/>
                </a:solidFill>
                <a:latin typeface="Calibri"/>
              </a:rPr>
              <a:t>test_debugger, test_integration — TIM2→IRQ, breakpoint halt, UART.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09760" y="27432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4A556B"/>
                </a:solidFill>
                <a:latin typeface="Consolas"/>
              </a:rPr>
              <a:t>examples/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A556B"/>
                </a:solidFill>
                <a:latin typeface="Consolas"/>
              </a:rPr>
              <a:t>STM32F103 Simulator · ИТМО · ПрВС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4A556B"/>
                </a:solidFill>
                <a:latin typeface="Consolas"/>
              </a:rPr>
              <a:t>36 /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029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E1B32"/>
                </a:solidFill>
                <a:latin typeface="Cambria"/>
              </a:rPr>
              <a:t>Пример прошивки в examples/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640080" cy="45720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0E1B32"/>
                </a:solidFill>
                <a:latin typeface="Calibri"/>
              </a:rPr>
              <a:t>Чтобы было что показывать, рядом лежит простая прошивка под arm-none-eabi-gcc.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743200"/>
            <a:ext cx="36576" cy="347472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7432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E1B32"/>
                </a:solidFill>
                <a:latin typeface="Cambria"/>
              </a:rPr>
              <a:t>Что собирается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200400"/>
            <a:ext cx="5029200" cy="31089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>
                <a:solidFill>
                  <a:srgbClr val="4EC9B0"/>
                </a:solidFill>
                <a:latin typeface="Consolas"/>
              </a:rPr>
              <a:t>■  </a:t>
            </a:r>
            <a:r>
              <a:rPr sz="1400">
                <a:solidFill>
                  <a:srgbClr val="0E1B32"/>
                </a:solidFill>
                <a:latin typeface="Calibri"/>
              </a:rPr>
              <a:t>startup.c — Reset_Handler + vector_table.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>
                <a:solidFill>
                  <a:srgbClr val="4EC9B0"/>
                </a:solidFill>
                <a:latin typeface="Consolas"/>
              </a:rPr>
              <a:t>■  </a:t>
            </a:r>
            <a:r>
              <a:rPr sz="1400">
                <a:solidFill>
                  <a:srgbClr val="0E1B32"/>
                </a:solidFill>
                <a:latin typeface="Calibri"/>
              </a:rPr>
              <a:t>main.c — bare-metal с регистрами RCC/GPIO/TIM2/USART1/NVIC.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>
                <a:solidFill>
                  <a:srgbClr val="4EC9B0"/>
                </a:solidFill>
                <a:latin typeface="Consolas"/>
              </a:rPr>
              <a:t>■  </a:t>
            </a:r>
            <a:r>
              <a:rPr sz="1400">
                <a:solidFill>
                  <a:srgbClr val="0E1B32"/>
                </a:solidFill>
                <a:latin typeface="Calibri"/>
              </a:rPr>
              <a:t>link.ld — FLASH 64K, SRAM 20K, ENTRY(Reset_Handler).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>
                <a:solidFill>
                  <a:srgbClr val="4EC9B0"/>
                </a:solidFill>
                <a:latin typeface="Consolas"/>
              </a:rPr>
              <a:t>■  </a:t>
            </a:r>
            <a:r>
              <a:rPr sz="1400">
                <a:solidFill>
                  <a:srgbClr val="0E1B32"/>
                </a:solidFill>
                <a:latin typeface="Calibri"/>
              </a:rPr>
              <a:t>Output: firmware.elf и firmware.bin.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2743200"/>
            <a:ext cx="36576" cy="3474720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74320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E1B32"/>
                </a:solidFill>
                <a:latin typeface="Cambria"/>
              </a:rPr>
              <a:t>Утилиты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3200400"/>
            <a:ext cx="5212080" cy="31089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>
                <a:solidFill>
                  <a:srgbClr val="F2A65A"/>
                </a:solidFill>
                <a:latin typeface="Consolas"/>
              </a:rPr>
              <a:t>■  </a:t>
            </a:r>
            <a:r>
              <a:rPr sz="1400">
                <a:solidFill>
                  <a:srgbClr val="0E1B32"/>
                </a:solidFill>
                <a:latin typeface="Calibri"/>
              </a:rPr>
              <a:t>gen_firmware.py — синтетическая Thumb-программа для тестов.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>
                <a:solidFill>
                  <a:srgbClr val="F2A65A"/>
                </a:solidFill>
                <a:latin typeface="Consolas"/>
              </a:rPr>
              <a:t>■  </a:t>
            </a:r>
            <a:r>
              <a:rPr sz="1400">
                <a:solidFill>
                  <a:srgbClr val="0E1B32"/>
                </a:solidFill>
                <a:latin typeface="Calibri"/>
              </a:rPr>
              <a:t>gen_stub_elf.py — минимальный ELF32-ARM для отладчиков.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>
                <a:solidFill>
                  <a:srgbClr val="F2A65A"/>
                </a:solidFill>
                <a:latin typeface="Consolas"/>
              </a:rPr>
              <a:t>■  </a:t>
            </a:r>
            <a:r>
              <a:rPr sz="1400">
                <a:solidFill>
                  <a:srgbClr val="0E1B32"/>
                </a:solidFill>
                <a:latin typeface="Calibri"/>
              </a:rPr>
              <a:t>Запуск: ../src/stm32sim firmware.bin.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09760" y="27432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4A556B"/>
                </a:solidFill>
                <a:latin typeface="Consolas"/>
              </a:rPr>
              <a:t>// docs/gateway.md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A556B"/>
                </a:solidFill>
                <a:latin typeface="Consolas"/>
              </a:rPr>
              <a:t>STM32F103 Simulator · ИТМО · ПрВС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4A556B"/>
                </a:solidFill>
                <a:latin typeface="Consolas"/>
              </a:rPr>
              <a:t>37 /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029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E1B32"/>
                </a:solidFill>
                <a:latin typeface="Cambria"/>
              </a:rPr>
              <a:t>Дорожная карта: онлайн-лаборатория (план)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640080" cy="45720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0E1B32"/>
                </a:solidFill>
                <a:latin typeface="Calibri"/>
              </a:rPr>
              <a:t>docs/gateway.md описывает будущее: очередь заданий, воркеры, KeyDB, браузерный клиент и удалённый GDB. Этого кода в текущем репозитории нет — это honest roadmap.</a:t>
            </a:r>
          </a:p>
        </p:txBody>
      </p:sp>
      <p:pic>
        <p:nvPicPr>
          <p:cNvPr id="9" name="Picture 8" descr="gatew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697480"/>
            <a:ext cx="4157785" cy="2560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594360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4A556B"/>
                </a:solidFill>
                <a:latin typeface="Calibri"/>
              </a:rPr>
              <a:t>В ответе на вопрос «а что дальше?»: распределённая обвязка вокруг существующего симулятора.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09760" y="27432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4A556B"/>
                </a:solidFill>
                <a:latin typeface="Consolas"/>
              </a:rPr>
              <a:t>// honest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A556B"/>
                </a:solidFill>
                <a:latin typeface="Consolas"/>
              </a:rPr>
              <a:t>STM32F103 Simulator · ИТМО · ПрВС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4A556B"/>
                </a:solidFill>
                <a:latin typeface="Consolas"/>
              </a:rPr>
              <a:t>38 /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029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E1B32"/>
                </a:solidFill>
                <a:latin typeface="Cambria"/>
              </a:rPr>
              <a:t>Что осознанно вне MVP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640080" cy="45720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0E1B32"/>
                </a:solidFill>
                <a:latin typeface="Calibri"/>
              </a:rPr>
              <a:t>Чтобы не обманывать проверяющего: вот области, где симулятор намеренно упрощён.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743200"/>
            <a:ext cx="11155680" cy="36576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>
                <a:solidFill>
                  <a:srgbClr val="F2A65A"/>
                </a:solidFill>
                <a:latin typeface="Consolas"/>
              </a:rPr>
              <a:t>■  </a:t>
            </a:r>
            <a:r>
              <a:rPr sz="1600">
                <a:solidFill>
                  <a:srgbClr val="0E1B32"/>
                </a:solidFill>
                <a:latin typeface="Calibri"/>
              </a:rPr>
              <a:t>Нет полной модели MPU, FPU и кэшей (в Cortex-M3 их и нет).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>
                <a:solidFill>
                  <a:srgbClr val="F2A65A"/>
                </a:solidFill>
                <a:latin typeface="Consolas"/>
              </a:rPr>
              <a:t>■  </a:t>
            </a:r>
            <a:r>
              <a:rPr sz="1600">
                <a:solidFill>
                  <a:srgbClr val="0E1B32"/>
                </a:solidFill>
                <a:latin typeface="Calibri"/>
              </a:rPr>
              <a:t>RCC и SysTick без реальной частоты — модель дискретных тактов.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>
                <a:solidFill>
                  <a:srgbClr val="F2A65A"/>
                </a:solidFill>
                <a:latin typeface="Consolas"/>
              </a:rPr>
              <a:t>■  </a:t>
            </a:r>
            <a:r>
              <a:rPr sz="1600">
                <a:solidFill>
                  <a:srgbClr val="0E1B32"/>
                </a:solidFill>
                <a:latin typeface="Calibri"/>
              </a:rPr>
              <a:t>UART — без BRR-таймингов, передача завершается за один tick.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>
                <a:solidFill>
                  <a:srgbClr val="F2A65A"/>
                </a:solidFill>
                <a:latin typeface="Consolas"/>
              </a:rPr>
              <a:t>■  </a:t>
            </a:r>
            <a:r>
              <a:rPr sz="1600">
                <a:solidFill>
                  <a:srgbClr val="0E1B32"/>
                </a:solidFill>
                <a:latin typeface="Calibri"/>
              </a:rPr>
              <a:t>Алиньмент проверяется только по размеру, не по выравниванию.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>
                <a:solidFill>
                  <a:srgbClr val="F2A65A"/>
                </a:solidFill>
                <a:latin typeface="Consolas"/>
              </a:rPr>
              <a:t>■  </a:t>
            </a:r>
            <a:r>
              <a:rPr sz="1600">
                <a:solidFill>
                  <a:srgbClr val="0E1B32"/>
                </a:solidFill>
                <a:latin typeface="Calibri"/>
              </a:rPr>
              <a:t>Нет CI/Docker — тесты запускаются локально через make test.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>
                <a:solidFill>
                  <a:srgbClr val="F2A65A"/>
                </a:solidFill>
                <a:latin typeface="Consolas"/>
              </a:rPr>
              <a:t>■  </a:t>
            </a:r>
            <a:r>
              <a:rPr sz="1600">
                <a:solidFill>
                  <a:srgbClr val="0E1B32"/>
                </a:solidFill>
                <a:latin typeface="Calibri"/>
              </a:rPr>
              <a:t>Онлайн-сервис из gateway.md ещё не реализован — только дизайн-документ.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09760" y="27432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4A556B"/>
                </a:solidFill>
                <a:latin typeface="Consolas"/>
              </a:rPr>
              <a:t>//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A556B"/>
                </a:solidFill>
                <a:latin typeface="Consolas"/>
              </a:rPr>
              <a:t>STM32F103 Simulator · ИТМО · ПрВС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4A556B"/>
                </a:solidFill>
                <a:latin typeface="Consolas"/>
              </a:rPr>
              <a:t>39 /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029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E1B32"/>
                </a:solidFill>
                <a:latin typeface="Cambria"/>
              </a:rPr>
              <a:t>Итог и кому что делать дальше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640080" cy="45720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0E1B32"/>
                </a:solidFill>
                <a:latin typeface="Calibri"/>
              </a:rPr>
              <a:t>Готовый детерминированный симулятор STM32F103 с тестами, отладкой по GDB и примером прошивки. Базис для следующих лабораторных и для распределённой онлайн-обёртки.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743200"/>
            <a:ext cx="36576" cy="338328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7432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E1B32"/>
                </a:solidFill>
                <a:latin typeface="Cambria"/>
              </a:rPr>
              <a:t>Сделано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200400"/>
            <a:ext cx="5029200" cy="31089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>
                <a:solidFill>
                  <a:srgbClr val="4EC9B0"/>
                </a:solidFill>
                <a:latin typeface="Consolas"/>
              </a:rPr>
              <a:t>■  </a:t>
            </a:r>
            <a:r>
              <a:rPr sz="1400">
                <a:solidFill>
                  <a:srgbClr val="0E1B32"/>
                </a:solidFill>
                <a:latin typeface="Calibri"/>
              </a:rPr>
              <a:t>Cortex-M3 ядро + 16 форматов Thumb + Thumb-2.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>
                <a:solidFill>
                  <a:srgbClr val="4EC9B0"/>
                </a:solidFill>
                <a:latin typeface="Consolas"/>
              </a:rPr>
              <a:t>■  </a:t>
            </a:r>
            <a:r>
              <a:rPr sz="1400">
                <a:solidFill>
                  <a:srgbClr val="0E1B32"/>
                </a:solidFill>
                <a:latin typeface="Calibri"/>
              </a:rPr>
              <a:t>NVIC на 43 IRQ + SysTick.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>
                <a:solidFill>
                  <a:srgbClr val="4EC9B0"/>
                </a:solidFill>
                <a:latin typeface="Consolas"/>
              </a:rPr>
              <a:t>■  </a:t>
            </a:r>
            <a:r>
              <a:rPr sz="1400">
                <a:solidFill>
                  <a:srgbClr val="0E1B32"/>
                </a:solidFill>
                <a:latin typeface="Calibri"/>
              </a:rPr>
              <a:t>TIM2, USART1, GPIO×5, RCC.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>
                <a:solidFill>
                  <a:srgbClr val="4EC9B0"/>
                </a:solidFill>
                <a:latin typeface="Consolas"/>
              </a:rPr>
              <a:t>■  </a:t>
            </a:r>
            <a:r>
              <a:rPr sz="1400">
                <a:solidFill>
                  <a:srgbClr val="0E1B32"/>
                </a:solidFill>
                <a:latin typeface="Calibri"/>
              </a:rPr>
              <a:t>GDB RSP сервер на порту 3333.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>
                <a:solidFill>
                  <a:srgbClr val="4EC9B0"/>
                </a:solidFill>
                <a:latin typeface="Consolas"/>
              </a:rPr>
              <a:t>■  </a:t>
            </a:r>
            <a:r>
              <a:rPr sz="1400">
                <a:solidFill>
                  <a:srgbClr val="0E1B32"/>
                </a:solidFill>
                <a:latin typeface="Calibri"/>
              </a:rPr>
              <a:t>11 наборов тестов, make test зелёный.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>
                <a:solidFill>
                  <a:srgbClr val="4EC9B0"/>
                </a:solidFill>
                <a:latin typeface="Consolas"/>
              </a:rPr>
              <a:t>■  </a:t>
            </a:r>
            <a:r>
              <a:rPr sz="1400">
                <a:solidFill>
                  <a:srgbClr val="0E1B32"/>
                </a:solidFill>
                <a:latin typeface="Calibri"/>
              </a:rPr>
              <a:t>Пример прошивки и автогенератор stub-ELF.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2743200"/>
            <a:ext cx="36576" cy="3383280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74320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E1B32"/>
                </a:solidFill>
                <a:latin typeface="Cambria"/>
              </a:rPr>
              <a:t>Команда (вписать)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3200400"/>
            <a:ext cx="5212080" cy="31089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>
                <a:solidFill>
                  <a:srgbClr val="F2A65A"/>
                </a:solidFill>
                <a:latin typeface="Consolas"/>
              </a:rPr>
              <a:t>■  </a:t>
            </a:r>
            <a:r>
              <a:rPr sz="1400">
                <a:solidFill>
                  <a:srgbClr val="0E1B32"/>
                </a:solidFill>
                <a:latin typeface="Calibri"/>
              </a:rPr>
              <a:t>Архитектор / ядро CPU — _____________________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>
                <a:solidFill>
                  <a:srgbClr val="F2A65A"/>
                </a:solidFill>
                <a:latin typeface="Consolas"/>
              </a:rPr>
              <a:t>■  </a:t>
            </a:r>
            <a:r>
              <a:rPr sz="1400">
                <a:solidFill>
                  <a:srgbClr val="0E1B32"/>
                </a:solidFill>
                <a:latin typeface="Calibri"/>
              </a:rPr>
              <a:t>Память + загрузчик — _____________________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>
                <a:solidFill>
                  <a:srgbClr val="F2A65A"/>
                </a:solidFill>
                <a:latin typeface="Consolas"/>
              </a:rPr>
              <a:t>■  </a:t>
            </a:r>
            <a:r>
              <a:rPr sz="1400">
                <a:solidFill>
                  <a:srgbClr val="0E1B32"/>
                </a:solidFill>
                <a:latin typeface="Calibri"/>
              </a:rPr>
              <a:t>NVIC + прерывания — _____________________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>
                <a:solidFill>
                  <a:srgbClr val="F2A65A"/>
                </a:solidFill>
                <a:latin typeface="Consolas"/>
              </a:rPr>
              <a:t>■  </a:t>
            </a:r>
            <a:r>
              <a:rPr sz="1400">
                <a:solidFill>
                  <a:srgbClr val="0E1B32"/>
                </a:solidFill>
                <a:latin typeface="Calibri"/>
              </a:rPr>
              <a:t>TIM2 + SysTick — _____________________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>
                <a:solidFill>
                  <a:srgbClr val="F2A65A"/>
                </a:solidFill>
                <a:latin typeface="Consolas"/>
              </a:rPr>
              <a:t>■  </a:t>
            </a:r>
            <a:r>
              <a:rPr sz="1400">
                <a:solidFill>
                  <a:srgbClr val="0E1B32"/>
                </a:solidFill>
                <a:latin typeface="Calibri"/>
              </a:rPr>
              <a:t>USART1 + CLI — _____________________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>
                <a:solidFill>
                  <a:srgbClr val="F2A65A"/>
                </a:solidFill>
                <a:latin typeface="Consolas"/>
              </a:rPr>
              <a:t>■  </a:t>
            </a:r>
            <a:r>
              <a:rPr sz="1400">
                <a:solidFill>
                  <a:srgbClr val="0E1B32"/>
                </a:solidFill>
                <a:latin typeface="Calibri"/>
              </a:rPr>
              <a:t>Тесты, сборка, GDB — _____________________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1945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FFCB91"/>
                </a:solidFill>
                <a:latin typeface="Consolas"/>
              </a:rPr>
              <a:t>//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743200"/>
            <a:ext cx="106070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Cambria"/>
              </a:rPr>
              <a:t>Спасибо. Готовы ответить на вопросы.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4572000"/>
            <a:ext cx="548640" cy="36576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70916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A95A8"/>
                </a:solidFill>
                <a:latin typeface="Consolas"/>
              </a:rPr>
              <a:t>STM32F103 Simulator · ИТМО · ПрВС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