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STM32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5029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ИТМО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Симулятор STM32F103C8T6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FFB300"/>
                </a:solidFill>
                <a:latin typeface="Calibri"/>
              </a:rPr>
              <a:t>программная модель Cortex-M3 c периферией, тестами и удалённой отладкой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828800" cy="36576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5F1E8"/>
                </a:solidFill>
                <a:latin typeface="Calibri"/>
              </a:rPr>
              <a:t>Курс «Программирование встроенных систем» · ИТМО · защита группового проекта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52728" y="632764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Что это и 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Контекст проекта в одну минуту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Идея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Программа, которая ведёт себя как микроконтроллер.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Мы написали на чистом C11 модель «Blue Pill» — STM32F103C8T6. Загружаем готовую прошивку, симулируем процессор, память и периферию, получаем такие же эффекты, как на реальной плате — и всё это без железа.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Числами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F2E"/>
                </a:solidFill>
                <a:latin typeface="Consolas"/>
              </a:rPr>
              <a:t>Из чего состоит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≈ 7 400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строк C-кода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в src/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5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2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32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файлов .c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+ 20 .h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тестовых сьютов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+ интеграция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53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10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~80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10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Thumb / Thumb-2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инструкций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E"/>
                </a:solidFill>
                <a:latin typeface="Calibri"/>
              </a:rPr>
              <a:t>Цифры собраны автоматически по содержимому каталога src/. Это не «кодовая фабрика» — это плотный учебный проект, в котором каждая папка делает одно дело.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Числами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Зачем студенту симулятор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Видеть процессор изнутри без риска что-нибудь спалить.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Симулятор даёт пошаговую трассировку, доступ к каждому регистру, и привычный GDB как на железе. Прошивку можно собирать своим компилятором — и сразу запускать. Это удобно для лабораторных и для отладки алгоритмов на реальной модели Cortex-M3.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Зачем студенту симулятор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Что было в задании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Курсовое ТЗ → реализация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Что требовалось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ARM Cortex-M3 (Thumb-2)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Подсистема памяти Flash + SRAM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NVIC c приоритетами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Таймер, UART, MMIO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Загрузка прошивки и тесты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Что мы сделали сверх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Thumb-2: BL/MOVW/MOVT/UMULL/SMULL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MMIO-NVIC в стиле CMSIS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GDB Remote Serial Protocol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SysTick + RCC + GPIO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Профилировщик и UART SVG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Что было в задании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Один поток, чёткие границы между модулями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1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Как соединены ядро, шина, память и периферия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Слева — процессор Cortex-M3, справа — NVIC. Между ними — шина (bus), которая по адресу решает, к какой периферии или памяти идёт обращение. Так ядро не «знает» про устройства напрямую.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6904653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978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Все стрелки на этом слайде соответствуют реальным вызовам в коде: bus_read/bus_write, nvic_set_pending, register_region. Источник: docs/architecture.svg.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1 · Архитектура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2 · Каталог 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Кто за что отвечает в коде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Каждая папка — отдельная зона ответственности. Это упрощает работу команды: разработчик ядра не зависит от UART-разработчика, тесты модулей независимы.</a:t>
            </a:r>
          </a:p>
        </p:txBody>
      </p:sp>
      <p:pic>
        <p:nvPicPr>
          <p:cNvPr id="6" name="Picture 5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5153124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7150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core — процессор; memory — Flash/SRAM; bus — маршрутизация; nvic — прерывания; peripherals — устройства; simulator — главный цикл; ui и gdb_stub — интерфейсы.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2 · Каталог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3 · Карта памяти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Адресное пространство такое же, как в datasheet STM32F103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Прошивка обращается к регистрам по тем же адресам, что и на кристалле: 0x4000_0000 — TIM2, 0x4001_3800 — USART1. Поэтому код, собранный под реальный чип, работает в симуляторе без правок.</a:t>
            </a:r>
          </a:p>
        </p:txBody>
      </p:sp>
      <p:pic>
        <p:nvPicPr>
          <p:cNvPr id="6" name="Picture 5" descr="memo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8419381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257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Особенность: Flash доступен как 0x0000_0000 (alias для векторной таблицы при сбросе) и как 0x0800_0000 — это поведение настоящего STM32.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3 · Карта памяти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4 · Один такт симулятора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Жёсткий порядок шагов даёт детерминизм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Сначала тикают периферии (таймеры могут поднять IRQ), потом исполняется одна инструкция, потом NVIC решает, нужно ли войти в обработчик, и в конце проверяются breakpoints.</a:t>
            </a:r>
          </a:p>
        </p:txBody>
      </p:sp>
      <p:pic>
        <p:nvPicPr>
          <p:cNvPr id="6" name="Picture 5" descr="sim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6630595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09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Этот порядок жёстко зафиксирован в simulator_step и не меняется. Тесты опираются на эту повторяемость — поэтому они не «мигают» от запуска к запуску.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4 · Один такт симулятора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Ядро и периферия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Что именно умеет наш процессор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Cortex-M3 core/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Процессор: чем он умеет «думать»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Состояние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Регистры R0–R15, xPSR (N/Z/C/V)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Флаги: thumb_mode, interruptible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Счётчик cycles (uint64)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Текущий IRQ — для вложенности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Декодер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Таблица 16-бит: маска + паттерн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Отдельный путь для Thumb-2 32-bit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BL, MOVW/MOVT, UMULL, SMULL, MUL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Условные ветвления по флагам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Cortex-M3 core/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core/ · core_step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Один такт работы ядра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F2E"/>
                </a:solidFill>
                <a:latin typeface="Calibri"/>
              </a:rPr>
              <a:t>Так выглядит сердце симулятора: декод инструкции, исполнение, обновление регистров.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Status core_step(Core* core)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uint16_t instr = bus_read(core-&gt;bus, core-&gt;state.r[15], 2);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if ((instr &amp; 0xE000) == 0xE000 &amp;&amp; (instr &amp; 0x1800)) {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// Thumb-2: BL, MOVW/MOVT, UMULL, …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execute_32bit(core, instr, hw2);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// Линейный поиск по таблице 16-бит инструкций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for (entry = instr_table; entry-&gt;handler; ++entry)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    if ((instr &amp; entry-&gt;mask) == entry-&gt;pattern) break;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entry-&gt;handler(core, instr);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}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CYCLES++;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if (core-&gt;state.interruptible)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        if (nvic_get_pending_irq(...)) enter_exception(...);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Таблица отсортирована: более специфичные паттерны сверху. Это типичный приём для интерпретаторов ARM — простой, расширяемый, легко покрывается тестами.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core/ · core_step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nvic/ · контроллер прерываний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Кто и когда прерывает наш 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Что хранится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До 43 линий IRQ + SysTick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pending / active / enabled / priority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current_priority — кто сейчас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Меньше число — выше приоритет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Что делает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set_pending — периферия просит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get_pending_irq — выбор по приоритету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acknowledge / complete — вход / выход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MMIO в стиле CMSIS (ISER, ICER, IPR)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nvic/ · контроллер прерываний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nvic/ · MMIO в стиле CMSIS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Прошивка работает с прерываниями как с обычной памятью.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В файле nvic_bus.c регистры NVIC отображены на адреса по правилам ARM CMSIS: ISER/ICER (включить/выключить IRQ), ISPR/ICPR (поднять/снять pending), IPR (приоритеты). Это значит, что HAL и stm32f1xx.h видят наш симулятор так же, как настоящий чип.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nvic/ · MMIO в стиле CMSIS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Периферия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Шесть устройств — каждое со своим vtable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0311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5739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TIM2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19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Базовый таймер с PSC и ARR. UIF в SR; событие в event_queue даёт IRQ 28.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10311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05739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USART1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19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TX и RX, прерывания TXEIE / RXNEIE → IRQ 37; SVG-диаграмма для отладки.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87451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210311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05739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SysTick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19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Системный таймер CPU. TICKINT → исключение 15, обходит NVIC IRQ-линии.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9767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52627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8055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GPIO A/B/C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5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CRL/CRH/IDR/ODR/BSRR. Можно слать пины снаружи через gpio_set_pin.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29767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7720" y="452627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48055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RCC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16635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Упрощённо: ready-биты следуют за enable, SWS = SW. HAL не виснет.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4297679"/>
            <a:ext cx="3703320" cy="224028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0" y="4526279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A1F2E"/>
                </a:solidFill>
                <a:latin typeface="Consola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480559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onsolas"/>
              </a:rPr>
              <a:t>NVIC bus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166359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Регистры контроллера прерываний прямо как MMIO — для драйверов CMSIS.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Периферия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Картинка 5 · Диаграмма UART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Когда какой байт ушёл по линии 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Симулятор умеет выводить SVG-диаграмму: каждый «столбик» — это байт на TX в момент симуляционного такта. Очень удобно показывать на защите, что прошивка реально шевелится.</a:t>
            </a:r>
          </a:p>
        </p:txBody>
      </p:sp>
      <p:pic>
        <p:nvPicPr>
          <p:cNvPr id="6" name="Picture 5" descr="uar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7607808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920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Эту диаграмму можно сохранить из CLI командой diagram-save или запросить из GDB через monitor uart-svg. Источник графики: uart_diagram.svg.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Картинка 5 · Диаграмма UART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Отладка и тесты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Чем доказываем, что работает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gdb_stub/ · удалённая отладка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Привычный GDB подключается к симулятору по TCP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Поддержанные пакеты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? · g · G · p · P  — регистры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 · M  — память (через шину)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 · s  — continue / step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Z · z  — программные breakpoints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qXfer:features:read  — target.xml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Monitor-команды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monitor halt / reset / reset halt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monitor uart-diagram / uart-clear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monitor uart-svg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qSupported, H, T, D, k — без боли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Как у настоящего gdbserver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gdb_stub/ · удалённая отладка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ui/ · CLI-команды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Самые нужные команды интерактивного режима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11155680" cy="5029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852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3852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Что делает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3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список всех команд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59"/>
            <a:ext cx="11155680" cy="50292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7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load &lt;путь&gt;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717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загрузить .bin во Flash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7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1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step [N] · run ·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1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выполнение и пауза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199"/>
            <a:ext cx="11155680" cy="50292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reg · mem &lt;addr&gt;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7763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состояние процессора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8911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break &lt;addr&gt; ·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5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точки останова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92039"/>
            <a:ext cx="11155680" cy="50292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834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uart &lt;ch&gt; · diagram-save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8347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ввод и SVG-вывод UART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94959"/>
            <a:ext cx="11155680" cy="50292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863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profile · quit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8639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1F2E"/>
                </a:solidFill>
                <a:latin typeface="Calibri"/>
              </a:rPr>
              <a:t>профилировщик и выход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9788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Парсер написан вручную — простой strcmp по таблице команд. Это видно начинающему и легко расширяется новыми командами без правки старого кода.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ui/ · CLI-команды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Тесты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F2E"/>
                </a:solidFill>
                <a:latin typeface="Consolas"/>
              </a:rPr>
              <a:t>Что проверяет make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сьютов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по модулям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5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2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32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интеграционных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сценария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ключевых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модулей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5340" y="2011680"/>
            <a:ext cx="2537460" cy="27432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1060" y="2148840"/>
            <a:ext cx="24460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ASSERT*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1060" y="3886200"/>
            <a:ext cx="24460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макросы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5F1E8"/>
                </a:solidFill>
                <a:latin typeface="Calibri"/>
              </a:rPr>
              <a:t>с счётчиком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E"/>
                </a:solidFill>
                <a:latin typeface="Calibri"/>
              </a:rPr>
              <a:t>Каркас минимальный: ASSERT_EQ при провале печатает файл, строку и условие, увеличивает счётчик и выходит из теста. RUN_TEST печатает PASS / FAIL и в конце — итог.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Тесты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Тесты · что проверяем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Юнит и интеграция бок о бок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Юнит-тесты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core: MOV, ADD, CMP+B, PUSH/POP, MUL, BL+BX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memory + bus: alias 0x0/0x08000000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nvic: приоритеты и вложенность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timer/systick: переполнение и IRQ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uart/gpio/rcc: регистры и поведение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Интеграция (test_integration.c)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TIM2 → NVIC → handler → BX LR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Breakpoint останавливает simulator_run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UART через bus → callback пользователя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Соединяем CPU + периферию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Это и есть «прошивка работает»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Тесты · что проверяем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Как пользоваться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Сборка, запуск, демо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Сборка хоста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Запуск за минуту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F2E"/>
                </a:solidFill>
                <a:latin typeface="Calibri"/>
              </a:rPr>
              <a:t>Симулятор собирается как обычная C-программа на Linux или macOS.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cd src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make                 # CC=clang, -std=c11, -Wall -Wextra -Wpedantic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./stm32sim           # интерактивный CLI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./stm32sim fw.bin    # сразу с прошивкой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./stm32sim fw.bin --gdb 4444   # GDB-сервер на порту 4444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make test            # собрать и запустить test_runner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В Makefile нет санитайзеров — это сознательно: тестам важнее воспроизводимость, чем диагностика памяти. ASAN можно включить руками через CFLAGS.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Сборка хоста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Сборка прошивки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Своя прошивка для симулятора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A1F2E"/>
                </a:solidFill>
                <a:latin typeface="Calibri"/>
              </a:rPr>
              <a:t>Пример из examples/ собирается обычным arm-none-eabi-gcc — как для настоящего STM32.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11155680" cy="32004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cd examples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make                              # → firmware.elf, firmware.bin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# CFLAGS = -mcpu=cortex-m3 -mthumb -nostdlib -ffreestanding -O0 -g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# LDFLAGS = -T link.ld -nostdlib -nostartfiles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../src/stm32sim firmware.bin      # запуск в симуляторе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# или без gcc: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1E8"/>
                </a:solidFill>
                <a:latin typeface="Consolas"/>
              </a:rPr>
              <a:t>$ python3 gen_firmware.py           # мини-ассемблер Thumb на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В examples/ лежит реалистичная прошивка: vector table, RCC HSI→PLL, GPIOA PA5, USART1, SysTick и TIM2 c обработчиками. Хороший пример «как должно выглядеть».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Сборка прошивки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Демо на защите · 2 минуты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Пошаговый сценарий, который не подведёт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Сборка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make в src/ и examples/. Покажите zero warnings.</a:t>
            </a:r>
          </a:p>
        </p:txBody>
      </p:sp>
      <p:sp>
        <p:nvSpPr>
          <p:cNvPr id="9" name="Right Triangle 8"/>
          <p:cNvSpPr/>
          <p:nvPr/>
        </p:nvSpPr>
        <p:spPr>
          <a:xfrm>
            <a:off x="3063240" y="3246120"/>
            <a:ext cx="274320" cy="457200"/>
          </a:xfrm>
          <a:prstGeom prst="rtTriangl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load fw.bin, step 5, reg, mem 0x20000000.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5943600" y="3246120"/>
            <a:ext cx="274320" cy="457200"/>
          </a:xfrm>
          <a:prstGeom prst="rtTriangl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UART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diagram-save: SVG c байтами на линии.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8823960" y="3246120"/>
            <a:ext cx="274320" cy="457200"/>
          </a:xfrm>
          <a:prstGeom prst="rtTriangl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286000"/>
            <a:ext cx="2514600" cy="23774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B300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8803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5F1E8"/>
                </a:solidFill>
                <a:latin typeface="Consolas"/>
              </a:rPr>
              <a:t>GDB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6118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E7DB"/>
                </a:solidFill>
                <a:latin typeface="Calibri"/>
              </a:rPr>
              <a:t>stm32sim --gdb · target remote · breakpoint.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Если что-то не собирается на чужой машине — заранее запускаем make test и показываем зелёные галочки. Это сильнее любых слов о «корректности».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Демо на защите · 2 минуты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300"/>
                </a:solidFill>
                <a:latin typeface="Consolas"/>
              </a:rPr>
              <a:t>РАЗДЕЛ 06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8"/>
                </a:solidFill>
                <a:latin typeface="Consolas"/>
              </a:rPr>
              <a:t>Команда и 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CE7DB"/>
                </a:solidFill>
                <a:latin typeface="Calibri"/>
              </a:rPr>
              <a:t>Кто это сделал и что дальше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Распределение ролей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По шести областям — как в задании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Кто что делал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1. Архитектор · ядро CPU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2. Память и загрузка прошивки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3. NVIC и обработчики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4. Таймеры (TIM2, SysTick)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5. UART и GPIO/RCC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6. Тесты, сборка, документация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Этапы по семестру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проект архитектуры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ядро + память + шина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NVIC + интеграция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периферия (TIM, UART, GPIO)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GDB + CLI + профилировщик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тесты, отчёт, защита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Распределение ролей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2E"/>
                </a:solidFill>
                <a:latin typeface="Consolas"/>
              </a:rPr>
              <a:t>Идея онлайн-лаборатории (только в документе docs/gateway.md)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A1F2E"/>
                </a:solidFill>
                <a:latin typeface="Calibri"/>
              </a:rPr>
              <a:t>В репозитории есть проектная заметка: распределённая система с очередью KeyDB, воркерами на Go и SSE для браузера. Это план развития, а не текущий код.</a:t>
            </a:r>
          </a:p>
        </p:txBody>
      </p:sp>
      <p:pic>
        <p:nvPicPr>
          <p:cNvPr id="6" name="Picture 5" descr="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4157785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7492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Сейчас результат — локальный симулятор с тестами и GDB. Распределённую оболочку можно собирать поверх него уже без переделки ядра.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Что дальше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Честный статус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onsolas"/>
              </a:rPr>
              <a:t>Что есть и чего пока нет — без приукрашивания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1874519"/>
            <a:ext cx="5349240" cy="457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B7A78"/>
                </a:solidFill>
                <a:latin typeface="Consolas"/>
              </a:rPr>
              <a:t>Сделано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C11 без зависимостей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Cortex-M3 + Thumb-2 ядро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Шина, MMIO, прерывания, SysTick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GDB RSP + CLI + профилировщик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11 тестов + интеграция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69700"/>
                </a:solidFill>
                <a:latin typeface="Consolas"/>
              </a:rPr>
              <a:t>Не сделано (и это нормально)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480060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Полный набор периферии чипа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DMA, SPI/I2C, ADC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CI в репозитории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Онлайн-сервис из gateway.md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A1F2E"/>
                </a:solidFill>
                <a:latin typeface="Calibri"/>
              </a:rPr>
              <a:t>• Идеальное соответствие тактам кремния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Честный статус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300"/>
                </a:solidFill>
                <a:latin typeface="Consolas"/>
              </a:rPr>
              <a:t>Главная мысль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54864" cy="338328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5F1E8"/>
                </a:solidFill>
                <a:latin typeface="Consolas"/>
              </a:rPr>
              <a:t>Это не «эмуляция железа в реальном времени» — это детерминированная учебная модель, где каждое действие можно объяснить и повторить.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B300"/>
                </a:solidFill>
                <a:latin typeface="Calibri"/>
              </a:rPr>
              <a:t>— почему наш симулятор полезен на занятиях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CE7DB"/>
                </a:solidFill>
                <a:latin typeface="Consolas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69700"/>
                </a:solidFill>
                <a:latin typeface="Consolas"/>
              </a:rPr>
              <a:t>Команда (заполнить перед защитой)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A1F2E"/>
                </a:solidFill>
                <a:latin typeface="Consolas"/>
              </a:rPr>
              <a:t>Шесть человек — шесть зон ответственности.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2471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(1):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(2):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(3):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(4):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(5):  ____________________________________________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F2E"/>
                </a:solidFill>
                <a:latin typeface="Calibri"/>
              </a:rPr>
              <a:t>ФИО · группа · роль (6):  ____________________________________________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Команда (заполнить перед защитой)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5A5A"/>
                </a:solidFill>
                <a:latin typeface="Consolas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FFB300"/>
                </a:solidFill>
                <a:latin typeface="Consolas"/>
              </a:rPr>
              <a:t>Спасибо.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F5F1E8"/>
                </a:solidFill>
                <a:latin typeface="Calibri"/>
              </a:rPr>
              <a:t>Готовы ответить на вопросы и показать симулятор в работе.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9928" y="6053328"/>
            <a:ext cx="146304" cy="146304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